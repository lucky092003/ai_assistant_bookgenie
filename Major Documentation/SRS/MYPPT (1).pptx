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3640" r:id="rId2"/>
    <p:sldId id="3694" r:id="rId3"/>
    <p:sldId id="3700" r:id="rId4"/>
    <p:sldId id="3701" r:id="rId5"/>
    <p:sldId id="3741" r:id="rId6"/>
    <p:sldId id="3723" r:id="rId7"/>
    <p:sldId id="3742" r:id="rId8"/>
    <p:sldId id="3735" r:id="rId9"/>
    <p:sldId id="3744" r:id="rId10"/>
    <p:sldId id="3745" r:id="rId11"/>
    <p:sldId id="3746" r:id="rId12"/>
    <p:sldId id="3704" r:id="rId13"/>
    <p:sldId id="3748" r:id="rId14"/>
    <p:sldId id="3747" r:id="rId15"/>
    <p:sldId id="3743" r:id="rId16"/>
    <p:sldId id="364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F3B231B-AD47-4417-9BB5-9E4D407B78C0}">
          <p14:sldIdLst>
            <p14:sldId id="3640"/>
            <p14:sldId id="3694"/>
            <p14:sldId id="3700"/>
            <p14:sldId id="3701"/>
            <p14:sldId id="3741"/>
            <p14:sldId id="3723"/>
            <p14:sldId id="3742"/>
          </p14:sldIdLst>
        </p14:section>
        <p14:section name="Untitled Section" id="{50318435-0625-4F8F-B623-86E403D86887}">
          <p14:sldIdLst>
            <p14:sldId id="3735"/>
            <p14:sldId id="3744"/>
            <p14:sldId id="3745"/>
            <p14:sldId id="3746"/>
            <p14:sldId id="3704"/>
            <p14:sldId id="3748"/>
            <p14:sldId id="3747"/>
            <p14:sldId id="3743"/>
            <p14:sldId id="364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keshi Parnami" initials="SP" lastIdx="1" clrIdx="0">
    <p:extLst>
      <p:ext uri="{19B8F6BF-5375-455C-9EA6-DF929625EA0E}">
        <p15:presenceInfo xmlns:p15="http://schemas.microsoft.com/office/powerpoint/2012/main" userId="S::sparnami@upes.ac.in::61686955-4e93-4ddb-a545-ba82f91d1f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36FF"/>
    <a:srgbClr val="4AAEFC"/>
    <a:srgbClr val="434ACF"/>
    <a:srgbClr val="BF2CFE"/>
    <a:srgbClr val="46B0FA"/>
    <a:srgbClr val="27D4F8"/>
    <a:srgbClr val="D9FF00"/>
    <a:srgbClr val="E0E600"/>
    <a:srgbClr val="0B2F3E"/>
    <a:srgbClr val="B1B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53" autoAdjust="0"/>
    <p:restoredTop sz="96327"/>
  </p:normalViewPr>
  <p:slideViewPr>
    <p:cSldViewPr snapToGrid="0" snapToObjects="1">
      <p:cViewPr varScale="1">
        <p:scale>
          <a:sx n="115" d="100"/>
          <a:sy n="115" d="100"/>
        </p:scale>
        <p:origin x="67" y="168"/>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F65813-2260-4D9A-9970-D5B56D8F7184}"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n-US"/>
        </a:p>
      </dgm:t>
    </dgm:pt>
    <dgm:pt modelId="{D7B34327-AB02-4BEB-AD37-62CFEA420164}">
      <dgm:prSet phldrT="[Text]"/>
      <dgm:spPr/>
      <dgm:t>
        <a:bodyPr/>
        <a:lstStyle/>
        <a:p>
          <a:r>
            <a:rPr lang="en-US"/>
            <a:t>Introduction</a:t>
          </a:r>
          <a:endParaRPr lang="en-US" dirty="0"/>
        </a:p>
      </dgm:t>
    </dgm:pt>
    <dgm:pt modelId="{F49D0337-C731-48AC-B4ED-D7B511EF8ECE}" type="parTrans" cxnId="{BF333276-D954-44AF-B643-918AC29CFF48}">
      <dgm:prSet/>
      <dgm:spPr/>
      <dgm:t>
        <a:bodyPr/>
        <a:lstStyle/>
        <a:p>
          <a:endParaRPr lang="en-US"/>
        </a:p>
      </dgm:t>
    </dgm:pt>
    <dgm:pt modelId="{BDCBAF04-295D-4FA7-A8C4-54C51540D138}" type="sibTrans" cxnId="{BF333276-D954-44AF-B643-918AC29CFF48}">
      <dgm:prSet/>
      <dgm:spPr/>
      <dgm:t>
        <a:bodyPr/>
        <a:lstStyle/>
        <a:p>
          <a:endParaRPr lang="en-US"/>
        </a:p>
      </dgm:t>
    </dgm:pt>
    <dgm:pt modelId="{6E957C2B-6611-463D-87C1-85E4D784BA8F}">
      <dgm:prSet phldrT="[Text]"/>
      <dgm:spPr/>
      <dgm:t>
        <a:bodyPr/>
        <a:lstStyle/>
        <a:p>
          <a:r>
            <a:rPr lang="en-IN" dirty="0"/>
            <a:t>Problem Statement &amp;</a:t>
          </a:r>
          <a:r>
            <a:rPr lang="en-US" dirty="0"/>
            <a:t> Objectives  </a:t>
          </a:r>
        </a:p>
      </dgm:t>
    </dgm:pt>
    <dgm:pt modelId="{D11E825D-3B57-4D18-85A1-6AC45615B216}" type="parTrans" cxnId="{D6D0D125-C939-4AD6-AAE0-3BF7F5EDECBD}">
      <dgm:prSet/>
      <dgm:spPr/>
      <dgm:t>
        <a:bodyPr/>
        <a:lstStyle/>
        <a:p>
          <a:endParaRPr lang="en-US"/>
        </a:p>
      </dgm:t>
    </dgm:pt>
    <dgm:pt modelId="{3A136CDF-487A-45F9-B2CE-6E4BD258C45A}" type="sibTrans" cxnId="{D6D0D125-C939-4AD6-AAE0-3BF7F5EDECBD}">
      <dgm:prSet/>
      <dgm:spPr/>
      <dgm:t>
        <a:bodyPr/>
        <a:lstStyle/>
        <a:p>
          <a:endParaRPr lang="en-US"/>
        </a:p>
      </dgm:t>
    </dgm:pt>
    <dgm:pt modelId="{1EF563E6-1C2B-484A-B8A2-6E57BF0BD443}">
      <dgm:prSet/>
      <dgm:spPr/>
      <dgm:t>
        <a:bodyPr/>
        <a:lstStyle/>
        <a:p>
          <a:r>
            <a:rPr lang="en-US" dirty="0"/>
            <a:t> </a:t>
          </a:r>
          <a:r>
            <a:rPr lang="en-US" dirty="0">
              <a:latin typeface="Times New Roman" panose="02020603050405020304" pitchFamily="18" charset="0"/>
              <a:cs typeface="Times New Roman" panose="02020603050405020304" pitchFamily="18" charset="0"/>
            </a:rPr>
            <a:t>Literature Review</a:t>
          </a:r>
          <a:endParaRPr lang="en-US" dirty="0"/>
        </a:p>
      </dgm:t>
    </dgm:pt>
    <dgm:pt modelId="{BF8C18A2-82F9-436B-971B-BD9C392439A2}" type="parTrans" cxnId="{38621E0D-94B7-408A-BB94-A701587E02C6}">
      <dgm:prSet/>
      <dgm:spPr/>
      <dgm:t>
        <a:bodyPr/>
        <a:lstStyle/>
        <a:p>
          <a:endParaRPr lang="en-US"/>
        </a:p>
      </dgm:t>
    </dgm:pt>
    <dgm:pt modelId="{CA7E0A27-7438-4CD5-9918-47E57D212C2E}" type="sibTrans" cxnId="{38621E0D-94B7-408A-BB94-A701587E02C6}">
      <dgm:prSet/>
      <dgm:spPr/>
      <dgm:t>
        <a:bodyPr/>
        <a:lstStyle/>
        <a:p>
          <a:endParaRPr lang="en-US"/>
        </a:p>
      </dgm:t>
    </dgm:pt>
    <dgm:pt modelId="{D51DA774-FA94-430E-8EF8-1A5C45586D9C}">
      <dgm:prSet/>
      <dgm:spPr/>
      <dgm:t>
        <a:bodyPr/>
        <a:lstStyle/>
        <a:p>
          <a:r>
            <a:rPr lang="en-US" dirty="0"/>
            <a:t>Swot Analysis &amp; Pert Chart</a:t>
          </a:r>
        </a:p>
      </dgm:t>
    </dgm:pt>
    <dgm:pt modelId="{6D54B442-63B3-481E-9D8C-9DEA80F6A5E5}" type="parTrans" cxnId="{F6C0DEA8-7DB6-4805-8817-E43695D7EAF7}">
      <dgm:prSet/>
      <dgm:spPr/>
      <dgm:t>
        <a:bodyPr/>
        <a:lstStyle/>
        <a:p>
          <a:endParaRPr lang="en-US"/>
        </a:p>
      </dgm:t>
    </dgm:pt>
    <dgm:pt modelId="{AFEACE81-619B-4193-9EAA-DD1B6EB56E66}" type="sibTrans" cxnId="{F6C0DEA8-7DB6-4805-8817-E43695D7EAF7}">
      <dgm:prSet/>
      <dgm:spPr/>
      <dgm:t>
        <a:bodyPr/>
        <a:lstStyle/>
        <a:p>
          <a:endParaRPr lang="en-US"/>
        </a:p>
      </dgm:t>
    </dgm:pt>
    <dgm:pt modelId="{A61F8E9A-FCC2-433E-9771-EA3F4B96D824}">
      <dgm:prSet/>
      <dgm:spPr/>
      <dgm:t>
        <a:bodyPr/>
        <a:lstStyle/>
        <a:p>
          <a:r>
            <a:rPr lang="en-US" dirty="0"/>
            <a:t>Conclusion &amp; </a:t>
          </a:r>
          <a:r>
            <a:rPr lang="en-IN" dirty="0"/>
            <a:t>References </a:t>
          </a:r>
          <a:endParaRPr lang="en-US" dirty="0"/>
        </a:p>
      </dgm:t>
    </dgm:pt>
    <dgm:pt modelId="{B10F7234-7242-42C7-8E58-5228ABE7B9D4}" type="parTrans" cxnId="{59D5B870-0D38-46FE-A9BB-C72C0AD068A4}">
      <dgm:prSet/>
      <dgm:spPr/>
      <dgm:t>
        <a:bodyPr/>
        <a:lstStyle/>
        <a:p>
          <a:endParaRPr lang="en-US"/>
        </a:p>
      </dgm:t>
    </dgm:pt>
    <dgm:pt modelId="{CDDE9B2A-8F55-439C-87D9-F0F4CF68110C}" type="sibTrans" cxnId="{59D5B870-0D38-46FE-A9BB-C72C0AD068A4}">
      <dgm:prSet/>
      <dgm:spPr/>
      <dgm:t>
        <a:bodyPr/>
        <a:lstStyle/>
        <a:p>
          <a:endParaRPr lang="en-US"/>
        </a:p>
      </dgm:t>
    </dgm:pt>
    <dgm:pt modelId="{B9C9E006-2B22-4C8C-BC4C-EDE3CABC2177}">
      <dgm:prSet/>
      <dgm:spPr/>
      <dgm:t>
        <a:bodyPr/>
        <a:lstStyle/>
        <a:p>
          <a:r>
            <a:rPr lang="en-US" dirty="0"/>
            <a:t> Dataset Description &amp; Methodology</a:t>
          </a:r>
        </a:p>
      </dgm:t>
    </dgm:pt>
    <dgm:pt modelId="{D91A55EB-DC98-4B6A-90F6-E8132F179903}" type="sibTrans" cxnId="{7F2F6B3C-9D3D-44C9-9CD1-474E27535E19}">
      <dgm:prSet/>
      <dgm:spPr/>
      <dgm:t>
        <a:bodyPr/>
        <a:lstStyle/>
        <a:p>
          <a:endParaRPr lang="en-US"/>
        </a:p>
      </dgm:t>
    </dgm:pt>
    <dgm:pt modelId="{EC6A56BA-0376-4E73-9854-91BEB161B6D3}" type="parTrans" cxnId="{7F2F6B3C-9D3D-44C9-9CD1-474E27535E19}">
      <dgm:prSet/>
      <dgm:spPr/>
      <dgm:t>
        <a:bodyPr/>
        <a:lstStyle/>
        <a:p>
          <a:endParaRPr lang="en-US"/>
        </a:p>
      </dgm:t>
    </dgm:pt>
    <dgm:pt modelId="{83C925DF-F90A-4FCC-A916-8639143D7DF9}" type="pres">
      <dgm:prSet presAssocID="{82F65813-2260-4D9A-9970-D5B56D8F7184}" presName="Name0" presStyleCnt="0">
        <dgm:presLayoutVars>
          <dgm:chMax val="7"/>
          <dgm:chPref val="7"/>
          <dgm:dir/>
        </dgm:presLayoutVars>
      </dgm:prSet>
      <dgm:spPr/>
    </dgm:pt>
    <dgm:pt modelId="{697D99F1-3174-4088-9F4E-E727DCEACBFE}" type="pres">
      <dgm:prSet presAssocID="{82F65813-2260-4D9A-9970-D5B56D8F7184}" presName="Name1" presStyleCnt="0"/>
      <dgm:spPr/>
    </dgm:pt>
    <dgm:pt modelId="{C7F2E82C-373D-48DB-9EC7-DCEC568E8943}" type="pres">
      <dgm:prSet presAssocID="{82F65813-2260-4D9A-9970-D5B56D8F7184}" presName="cycle" presStyleCnt="0"/>
      <dgm:spPr/>
    </dgm:pt>
    <dgm:pt modelId="{AEB662E0-45F8-4DD9-93C7-533C24F2029B}" type="pres">
      <dgm:prSet presAssocID="{82F65813-2260-4D9A-9970-D5B56D8F7184}" presName="srcNode" presStyleLbl="node1" presStyleIdx="0" presStyleCnt="6"/>
      <dgm:spPr/>
    </dgm:pt>
    <dgm:pt modelId="{031D974E-1ADB-47E3-9A08-406BDCA0C729}" type="pres">
      <dgm:prSet presAssocID="{82F65813-2260-4D9A-9970-D5B56D8F7184}" presName="conn" presStyleLbl="parChTrans1D2" presStyleIdx="0" presStyleCnt="1"/>
      <dgm:spPr/>
    </dgm:pt>
    <dgm:pt modelId="{2BFBFAC5-4AF4-4E40-B674-3935F23BF6DA}" type="pres">
      <dgm:prSet presAssocID="{82F65813-2260-4D9A-9970-D5B56D8F7184}" presName="extraNode" presStyleLbl="node1" presStyleIdx="0" presStyleCnt="6"/>
      <dgm:spPr/>
    </dgm:pt>
    <dgm:pt modelId="{82876427-93E9-4DBD-9E6E-A76DE8F9D263}" type="pres">
      <dgm:prSet presAssocID="{82F65813-2260-4D9A-9970-D5B56D8F7184}" presName="dstNode" presStyleLbl="node1" presStyleIdx="0" presStyleCnt="6"/>
      <dgm:spPr/>
    </dgm:pt>
    <dgm:pt modelId="{0CD59615-B770-4B0E-BA76-E1278D5853CF}" type="pres">
      <dgm:prSet presAssocID="{D7B34327-AB02-4BEB-AD37-62CFEA420164}" presName="text_1" presStyleLbl="node1" presStyleIdx="0" presStyleCnt="6">
        <dgm:presLayoutVars>
          <dgm:bulletEnabled val="1"/>
        </dgm:presLayoutVars>
      </dgm:prSet>
      <dgm:spPr/>
    </dgm:pt>
    <dgm:pt modelId="{B80B4812-1FF8-4136-BCAD-97C9CFA975F2}" type="pres">
      <dgm:prSet presAssocID="{D7B34327-AB02-4BEB-AD37-62CFEA420164}" presName="accent_1" presStyleCnt="0"/>
      <dgm:spPr/>
    </dgm:pt>
    <dgm:pt modelId="{C0334D15-5C05-4EFA-BAA7-13B5C9C7E0AC}" type="pres">
      <dgm:prSet presAssocID="{D7B34327-AB02-4BEB-AD37-62CFEA420164}" presName="accentRepeatNode" presStyleLbl="solidFgAcc1" presStyleIdx="0" presStyleCnt="6"/>
      <dgm:spPr/>
    </dgm:pt>
    <dgm:pt modelId="{A15C2EC2-9256-46ED-9D08-9EAEBD16E3BD}" type="pres">
      <dgm:prSet presAssocID="{6E957C2B-6611-463D-87C1-85E4D784BA8F}" presName="text_2" presStyleLbl="node1" presStyleIdx="1" presStyleCnt="6">
        <dgm:presLayoutVars>
          <dgm:bulletEnabled val="1"/>
        </dgm:presLayoutVars>
      </dgm:prSet>
      <dgm:spPr/>
    </dgm:pt>
    <dgm:pt modelId="{FE4AD88A-0058-43D8-BC0D-3C1D77330EA6}" type="pres">
      <dgm:prSet presAssocID="{6E957C2B-6611-463D-87C1-85E4D784BA8F}" presName="accent_2" presStyleCnt="0"/>
      <dgm:spPr/>
    </dgm:pt>
    <dgm:pt modelId="{35F15237-59A9-4A82-BEFC-6DE7A150A4A1}" type="pres">
      <dgm:prSet presAssocID="{6E957C2B-6611-463D-87C1-85E4D784BA8F}" presName="accentRepeatNode" presStyleLbl="solidFgAcc1" presStyleIdx="1" presStyleCnt="6"/>
      <dgm:spPr/>
    </dgm:pt>
    <dgm:pt modelId="{C26F9D97-116F-498B-ABCD-39CDABBA1083}" type="pres">
      <dgm:prSet presAssocID="{1EF563E6-1C2B-484A-B8A2-6E57BF0BD443}" presName="text_3" presStyleLbl="node1" presStyleIdx="2" presStyleCnt="6">
        <dgm:presLayoutVars>
          <dgm:bulletEnabled val="1"/>
        </dgm:presLayoutVars>
      </dgm:prSet>
      <dgm:spPr/>
    </dgm:pt>
    <dgm:pt modelId="{EEC431BC-ED6C-4D72-AF33-6DAF1D618FCA}" type="pres">
      <dgm:prSet presAssocID="{1EF563E6-1C2B-484A-B8A2-6E57BF0BD443}" presName="accent_3" presStyleCnt="0"/>
      <dgm:spPr/>
    </dgm:pt>
    <dgm:pt modelId="{E31A1096-DBC4-4DB7-B32D-05ECC8818258}" type="pres">
      <dgm:prSet presAssocID="{1EF563E6-1C2B-484A-B8A2-6E57BF0BD443}" presName="accentRepeatNode" presStyleLbl="solidFgAcc1" presStyleIdx="2" presStyleCnt="6"/>
      <dgm:spPr/>
    </dgm:pt>
    <dgm:pt modelId="{060185CC-A8E7-4755-9B22-082E51E6D679}" type="pres">
      <dgm:prSet presAssocID="{B9C9E006-2B22-4C8C-BC4C-EDE3CABC2177}" presName="text_4" presStyleLbl="node1" presStyleIdx="3" presStyleCnt="6">
        <dgm:presLayoutVars>
          <dgm:bulletEnabled val="1"/>
        </dgm:presLayoutVars>
      </dgm:prSet>
      <dgm:spPr/>
    </dgm:pt>
    <dgm:pt modelId="{D8C2A6F7-C0F9-49AD-95A4-CEDC3E34ECA5}" type="pres">
      <dgm:prSet presAssocID="{B9C9E006-2B22-4C8C-BC4C-EDE3CABC2177}" presName="accent_4" presStyleCnt="0"/>
      <dgm:spPr/>
    </dgm:pt>
    <dgm:pt modelId="{A36ED556-2035-4E1B-BDCF-FC0D794C6BE8}" type="pres">
      <dgm:prSet presAssocID="{B9C9E006-2B22-4C8C-BC4C-EDE3CABC2177}" presName="accentRepeatNode" presStyleLbl="solidFgAcc1" presStyleIdx="3" presStyleCnt="6"/>
      <dgm:spPr/>
    </dgm:pt>
    <dgm:pt modelId="{958BCDDF-1CFE-44CF-90C0-2C17565DE80D}" type="pres">
      <dgm:prSet presAssocID="{D51DA774-FA94-430E-8EF8-1A5C45586D9C}" presName="text_5" presStyleLbl="node1" presStyleIdx="4" presStyleCnt="6">
        <dgm:presLayoutVars>
          <dgm:bulletEnabled val="1"/>
        </dgm:presLayoutVars>
      </dgm:prSet>
      <dgm:spPr/>
    </dgm:pt>
    <dgm:pt modelId="{033F489E-5E3A-423E-998D-CC1BF9C26931}" type="pres">
      <dgm:prSet presAssocID="{D51DA774-FA94-430E-8EF8-1A5C45586D9C}" presName="accent_5" presStyleCnt="0"/>
      <dgm:spPr/>
    </dgm:pt>
    <dgm:pt modelId="{01502C9E-E4DE-4B21-93FA-31D80900439D}" type="pres">
      <dgm:prSet presAssocID="{D51DA774-FA94-430E-8EF8-1A5C45586D9C}" presName="accentRepeatNode" presStyleLbl="solidFgAcc1" presStyleIdx="4" presStyleCnt="6"/>
      <dgm:spPr/>
    </dgm:pt>
    <dgm:pt modelId="{77AE8CE1-4547-4654-B9F2-FFE097F31875}" type="pres">
      <dgm:prSet presAssocID="{A61F8E9A-FCC2-433E-9771-EA3F4B96D824}" presName="text_6" presStyleLbl="node1" presStyleIdx="5" presStyleCnt="6">
        <dgm:presLayoutVars>
          <dgm:bulletEnabled val="1"/>
        </dgm:presLayoutVars>
      </dgm:prSet>
      <dgm:spPr/>
    </dgm:pt>
    <dgm:pt modelId="{B34EC8D0-B97B-4C48-BCF1-8E17278A0D7C}" type="pres">
      <dgm:prSet presAssocID="{A61F8E9A-FCC2-433E-9771-EA3F4B96D824}" presName="accent_6" presStyleCnt="0"/>
      <dgm:spPr/>
    </dgm:pt>
    <dgm:pt modelId="{A9A85795-993D-415E-8DBB-D04D40D58D20}" type="pres">
      <dgm:prSet presAssocID="{A61F8E9A-FCC2-433E-9771-EA3F4B96D824}" presName="accentRepeatNode" presStyleLbl="solidFgAcc1" presStyleIdx="5" presStyleCnt="6"/>
      <dgm:spPr/>
    </dgm:pt>
  </dgm:ptLst>
  <dgm:cxnLst>
    <dgm:cxn modelId="{38621E0D-94B7-408A-BB94-A701587E02C6}" srcId="{82F65813-2260-4D9A-9970-D5B56D8F7184}" destId="{1EF563E6-1C2B-484A-B8A2-6E57BF0BD443}" srcOrd="2" destOrd="0" parTransId="{BF8C18A2-82F9-436B-971B-BD9C392439A2}" sibTransId="{CA7E0A27-7438-4CD5-9918-47E57D212C2E}"/>
    <dgm:cxn modelId="{A7DC190F-3E1F-49C6-98BC-61FDEFDD2B95}" type="presOf" srcId="{D7B34327-AB02-4BEB-AD37-62CFEA420164}" destId="{0CD59615-B770-4B0E-BA76-E1278D5853CF}" srcOrd="0" destOrd="0" presId="urn:microsoft.com/office/officeart/2008/layout/VerticalCurvedList"/>
    <dgm:cxn modelId="{B6642D1F-478D-463D-92DC-A5632E026DA6}" type="presOf" srcId="{B9C9E006-2B22-4C8C-BC4C-EDE3CABC2177}" destId="{060185CC-A8E7-4755-9B22-082E51E6D679}" srcOrd="0" destOrd="0" presId="urn:microsoft.com/office/officeart/2008/layout/VerticalCurvedList"/>
    <dgm:cxn modelId="{D6D0D125-C939-4AD6-AAE0-3BF7F5EDECBD}" srcId="{82F65813-2260-4D9A-9970-D5B56D8F7184}" destId="{6E957C2B-6611-463D-87C1-85E4D784BA8F}" srcOrd="1" destOrd="0" parTransId="{D11E825D-3B57-4D18-85A1-6AC45615B216}" sibTransId="{3A136CDF-487A-45F9-B2CE-6E4BD258C45A}"/>
    <dgm:cxn modelId="{8182DE31-BA13-4306-820E-1D12445B3EA0}" type="presOf" srcId="{BDCBAF04-295D-4FA7-A8C4-54C51540D138}" destId="{031D974E-1ADB-47E3-9A08-406BDCA0C729}" srcOrd="0" destOrd="0" presId="urn:microsoft.com/office/officeart/2008/layout/VerticalCurvedList"/>
    <dgm:cxn modelId="{7F2F6B3C-9D3D-44C9-9CD1-474E27535E19}" srcId="{82F65813-2260-4D9A-9970-D5B56D8F7184}" destId="{B9C9E006-2B22-4C8C-BC4C-EDE3CABC2177}" srcOrd="3" destOrd="0" parTransId="{EC6A56BA-0376-4E73-9854-91BEB161B6D3}" sibTransId="{D91A55EB-DC98-4B6A-90F6-E8132F179903}"/>
    <dgm:cxn modelId="{59D5B870-0D38-46FE-A9BB-C72C0AD068A4}" srcId="{82F65813-2260-4D9A-9970-D5B56D8F7184}" destId="{A61F8E9A-FCC2-433E-9771-EA3F4B96D824}" srcOrd="5" destOrd="0" parTransId="{B10F7234-7242-42C7-8E58-5228ABE7B9D4}" sibTransId="{CDDE9B2A-8F55-439C-87D9-F0F4CF68110C}"/>
    <dgm:cxn modelId="{BF333276-D954-44AF-B643-918AC29CFF48}" srcId="{82F65813-2260-4D9A-9970-D5B56D8F7184}" destId="{D7B34327-AB02-4BEB-AD37-62CFEA420164}" srcOrd="0" destOrd="0" parTransId="{F49D0337-C731-48AC-B4ED-D7B511EF8ECE}" sibTransId="{BDCBAF04-295D-4FA7-A8C4-54C51540D138}"/>
    <dgm:cxn modelId="{5D81B17E-BF74-4AA1-84C4-8754531B572F}" type="presOf" srcId="{82F65813-2260-4D9A-9970-D5B56D8F7184}" destId="{83C925DF-F90A-4FCC-A916-8639143D7DF9}" srcOrd="0" destOrd="0" presId="urn:microsoft.com/office/officeart/2008/layout/VerticalCurvedList"/>
    <dgm:cxn modelId="{0D204C9E-7480-4100-8651-F12433CD7F71}" type="presOf" srcId="{1EF563E6-1C2B-484A-B8A2-6E57BF0BD443}" destId="{C26F9D97-116F-498B-ABCD-39CDABBA1083}" srcOrd="0" destOrd="0" presId="urn:microsoft.com/office/officeart/2008/layout/VerticalCurvedList"/>
    <dgm:cxn modelId="{F24575A7-9921-46CE-BFC1-A895283F7798}" type="presOf" srcId="{D51DA774-FA94-430E-8EF8-1A5C45586D9C}" destId="{958BCDDF-1CFE-44CF-90C0-2C17565DE80D}" srcOrd="0" destOrd="0" presId="urn:microsoft.com/office/officeart/2008/layout/VerticalCurvedList"/>
    <dgm:cxn modelId="{F6C0DEA8-7DB6-4805-8817-E43695D7EAF7}" srcId="{82F65813-2260-4D9A-9970-D5B56D8F7184}" destId="{D51DA774-FA94-430E-8EF8-1A5C45586D9C}" srcOrd="4" destOrd="0" parTransId="{6D54B442-63B3-481E-9D8C-9DEA80F6A5E5}" sibTransId="{AFEACE81-619B-4193-9EAA-DD1B6EB56E66}"/>
    <dgm:cxn modelId="{32113CD6-2794-40E9-A89D-BD0C159A971C}" type="presOf" srcId="{6E957C2B-6611-463D-87C1-85E4D784BA8F}" destId="{A15C2EC2-9256-46ED-9D08-9EAEBD16E3BD}" srcOrd="0" destOrd="0" presId="urn:microsoft.com/office/officeart/2008/layout/VerticalCurvedList"/>
    <dgm:cxn modelId="{13EF7DEF-3736-4A9F-9A67-BE183771E9D1}" type="presOf" srcId="{A61F8E9A-FCC2-433E-9771-EA3F4B96D824}" destId="{77AE8CE1-4547-4654-B9F2-FFE097F31875}" srcOrd="0" destOrd="0" presId="urn:microsoft.com/office/officeart/2008/layout/VerticalCurvedList"/>
    <dgm:cxn modelId="{374B386F-C026-4344-A8D8-ED0BD4204C89}" type="presParOf" srcId="{83C925DF-F90A-4FCC-A916-8639143D7DF9}" destId="{697D99F1-3174-4088-9F4E-E727DCEACBFE}" srcOrd="0" destOrd="0" presId="urn:microsoft.com/office/officeart/2008/layout/VerticalCurvedList"/>
    <dgm:cxn modelId="{B5EF2B6F-8A11-44C0-B86B-4E0B9FC9D312}" type="presParOf" srcId="{697D99F1-3174-4088-9F4E-E727DCEACBFE}" destId="{C7F2E82C-373D-48DB-9EC7-DCEC568E8943}" srcOrd="0" destOrd="0" presId="urn:microsoft.com/office/officeart/2008/layout/VerticalCurvedList"/>
    <dgm:cxn modelId="{86AFDCD5-D1F5-4492-9F26-92A0612B245E}" type="presParOf" srcId="{C7F2E82C-373D-48DB-9EC7-DCEC568E8943}" destId="{AEB662E0-45F8-4DD9-93C7-533C24F2029B}" srcOrd="0" destOrd="0" presId="urn:microsoft.com/office/officeart/2008/layout/VerticalCurvedList"/>
    <dgm:cxn modelId="{9349FBEB-E02D-4CCA-892D-53930167EBF1}" type="presParOf" srcId="{C7F2E82C-373D-48DB-9EC7-DCEC568E8943}" destId="{031D974E-1ADB-47E3-9A08-406BDCA0C729}" srcOrd="1" destOrd="0" presId="urn:microsoft.com/office/officeart/2008/layout/VerticalCurvedList"/>
    <dgm:cxn modelId="{39D72873-D2F5-4A28-A1EA-BCBBBEEB06FB}" type="presParOf" srcId="{C7F2E82C-373D-48DB-9EC7-DCEC568E8943}" destId="{2BFBFAC5-4AF4-4E40-B674-3935F23BF6DA}" srcOrd="2" destOrd="0" presId="urn:microsoft.com/office/officeart/2008/layout/VerticalCurvedList"/>
    <dgm:cxn modelId="{2E780AB9-0E77-40A0-AC46-73AE85ED908A}" type="presParOf" srcId="{C7F2E82C-373D-48DB-9EC7-DCEC568E8943}" destId="{82876427-93E9-4DBD-9E6E-A76DE8F9D263}" srcOrd="3" destOrd="0" presId="urn:microsoft.com/office/officeart/2008/layout/VerticalCurvedList"/>
    <dgm:cxn modelId="{B9B1362E-EA87-459B-994A-68C3E7108534}" type="presParOf" srcId="{697D99F1-3174-4088-9F4E-E727DCEACBFE}" destId="{0CD59615-B770-4B0E-BA76-E1278D5853CF}" srcOrd="1" destOrd="0" presId="urn:microsoft.com/office/officeart/2008/layout/VerticalCurvedList"/>
    <dgm:cxn modelId="{7A614CB5-CF26-4DAE-80FE-6FA11CEF0274}" type="presParOf" srcId="{697D99F1-3174-4088-9F4E-E727DCEACBFE}" destId="{B80B4812-1FF8-4136-BCAD-97C9CFA975F2}" srcOrd="2" destOrd="0" presId="urn:microsoft.com/office/officeart/2008/layout/VerticalCurvedList"/>
    <dgm:cxn modelId="{CFA83610-0684-4F62-92C3-ECE08926F5B0}" type="presParOf" srcId="{B80B4812-1FF8-4136-BCAD-97C9CFA975F2}" destId="{C0334D15-5C05-4EFA-BAA7-13B5C9C7E0AC}" srcOrd="0" destOrd="0" presId="urn:microsoft.com/office/officeart/2008/layout/VerticalCurvedList"/>
    <dgm:cxn modelId="{BD601F59-3DFA-4F99-8825-587A288F9629}" type="presParOf" srcId="{697D99F1-3174-4088-9F4E-E727DCEACBFE}" destId="{A15C2EC2-9256-46ED-9D08-9EAEBD16E3BD}" srcOrd="3" destOrd="0" presId="urn:microsoft.com/office/officeart/2008/layout/VerticalCurvedList"/>
    <dgm:cxn modelId="{F2272BDB-2115-41DB-BBEA-B1D3A4D6105E}" type="presParOf" srcId="{697D99F1-3174-4088-9F4E-E727DCEACBFE}" destId="{FE4AD88A-0058-43D8-BC0D-3C1D77330EA6}" srcOrd="4" destOrd="0" presId="urn:microsoft.com/office/officeart/2008/layout/VerticalCurvedList"/>
    <dgm:cxn modelId="{7D737E91-2116-4880-9A03-13F03EDB4989}" type="presParOf" srcId="{FE4AD88A-0058-43D8-BC0D-3C1D77330EA6}" destId="{35F15237-59A9-4A82-BEFC-6DE7A150A4A1}" srcOrd="0" destOrd="0" presId="urn:microsoft.com/office/officeart/2008/layout/VerticalCurvedList"/>
    <dgm:cxn modelId="{A8F036AC-CAFA-47F8-A82D-BB2446DA99B4}" type="presParOf" srcId="{697D99F1-3174-4088-9F4E-E727DCEACBFE}" destId="{C26F9D97-116F-498B-ABCD-39CDABBA1083}" srcOrd="5" destOrd="0" presId="urn:microsoft.com/office/officeart/2008/layout/VerticalCurvedList"/>
    <dgm:cxn modelId="{523F3A14-2825-4769-9568-D053C15AB07B}" type="presParOf" srcId="{697D99F1-3174-4088-9F4E-E727DCEACBFE}" destId="{EEC431BC-ED6C-4D72-AF33-6DAF1D618FCA}" srcOrd="6" destOrd="0" presId="urn:microsoft.com/office/officeart/2008/layout/VerticalCurvedList"/>
    <dgm:cxn modelId="{EA38F3EF-0F80-44C1-9E9A-474C610FF3FC}" type="presParOf" srcId="{EEC431BC-ED6C-4D72-AF33-6DAF1D618FCA}" destId="{E31A1096-DBC4-4DB7-B32D-05ECC8818258}" srcOrd="0" destOrd="0" presId="urn:microsoft.com/office/officeart/2008/layout/VerticalCurvedList"/>
    <dgm:cxn modelId="{BA4AF1FD-75A3-4558-BCFC-E1C790FE1CC4}" type="presParOf" srcId="{697D99F1-3174-4088-9F4E-E727DCEACBFE}" destId="{060185CC-A8E7-4755-9B22-082E51E6D679}" srcOrd="7" destOrd="0" presId="urn:microsoft.com/office/officeart/2008/layout/VerticalCurvedList"/>
    <dgm:cxn modelId="{A94DE68F-586B-4AFD-BF9D-301800E217BD}" type="presParOf" srcId="{697D99F1-3174-4088-9F4E-E727DCEACBFE}" destId="{D8C2A6F7-C0F9-49AD-95A4-CEDC3E34ECA5}" srcOrd="8" destOrd="0" presId="urn:microsoft.com/office/officeart/2008/layout/VerticalCurvedList"/>
    <dgm:cxn modelId="{89DA6980-79B3-405C-9EEA-B31963D82EFA}" type="presParOf" srcId="{D8C2A6F7-C0F9-49AD-95A4-CEDC3E34ECA5}" destId="{A36ED556-2035-4E1B-BDCF-FC0D794C6BE8}" srcOrd="0" destOrd="0" presId="urn:microsoft.com/office/officeart/2008/layout/VerticalCurvedList"/>
    <dgm:cxn modelId="{D39102F4-565B-4832-8783-B0BE5345AB29}" type="presParOf" srcId="{697D99F1-3174-4088-9F4E-E727DCEACBFE}" destId="{958BCDDF-1CFE-44CF-90C0-2C17565DE80D}" srcOrd="9" destOrd="0" presId="urn:microsoft.com/office/officeart/2008/layout/VerticalCurvedList"/>
    <dgm:cxn modelId="{271E9D12-7E2E-445D-BAE6-E2EFA582AEAB}" type="presParOf" srcId="{697D99F1-3174-4088-9F4E-E727DCEACBFE}" destId="{033F489E-5E3A-423E-998D-CC1BF9C26931}" srcOrd="10" destOrd="0" presId="urn:microsoft.com/office/officeart/2008/layout/VerticalCurvedList"/>
    <dgm:cxn modelId="{D6EAEBF8-0BC2-4490-AA9E-90C18760F995}" type="presParOf" srcId="{033F489E-5E3A-423E-998D-CC1BF9C26931}" destId="{01502C9E-E4DE-4B21-93FA-31D80900439D}" srcOrd="0" destOrd="0" presId="urn:microsoft.com/office/officeart/2008/layout/VerticalCurvedList"/>
    <dgm:cxn modelId="{D5BD0161-542B-4EE4-B813-278F917AE226}" type="presParOf" srcId="{697D99F1-3174-4088-9F4E-E727DCEACBFE}" destId="{77AE8CE1-4547-4654-B9F2-FFE097F31875}" srcOrd="11" destOrd="0" presId="urn:microsoft.com/office/officeart/2008/layout/VerticalCurvedList"/>
    <dgm:cxn modelId="{BAB03049-B0F4-4169-B1EC-5922F8361614}" type="presParOf" srcId="{697D99F1-3174-4088-9F4E-E727DCEACBFE}" destId="{B34EC8D0-B97B-4C48-BCF1-8E17278A0D7C}" srcOrd="12" destOrd="0" presId="urn:microsoft.com/office/officeart/2008/layout/VerticalCurvedList"/>
    <dgm:cxn modelId="{ED436578-14B1-4C92-93A5-98FD06B58EA7}" type="presParOf" srcId="{B34EC8D0-B97B-4C48-BCF1-8E17278A0D7C}" destId="{A9A85795-993D-415E-8DBB-D04D40D58D20}"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1D974E-1ADB-47E3-9A08-406BDCA0C729}">
      <dsp:nvSpPr>
        <dsp:cNvPr id="0" name=""/>
        <dsp:cNvSpPr/>
      </dsp:nvSpPr>
      <dsp:spPr>
        <a:xfrm>
          <a:off x="-5566172" y="-852152"/>
          <a:ext cx="6627287" cy="6627287"/>
        </a:xfrm>
        <a:prstGeom prst="blockArc">
          <a:avLst>
            <a:gd name="adj1" fmla="val 18900000"/>
            <a:gd name="adj2" fmla="val 2700000"/>
            <a:gd name="adj3" fmla="val 326"/>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D59615-B770-4B0E-BA76-E1278D5853CF}">
      <dsp:nvSpPr>
        <dsp:cNvPr id="0" name=""/>
        <dsp:cNvSpPr/>
      </dsp:nvSpPr>
      <dsp:spPr>
        <a:xfrm>
          <a:off x="395483" y="259244"/>
          <a:ext cx="7582231" cy="51829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a:t>Introduction</a:t>
          </a:r>
          <a:endParaRPr lang="en-US" sz="2700" kern="1200" dirty="0"/>
        </a:p>
      </dsp:txBody>
      <dsp:txXfrm>
        <a:off x="395483" y="259244"/>
        <a:ext cx="7582231" cy="518291"/>
      </dsp:txXfrm>
    </dsp:sp>
    <dsp:sp modelId="{C0334D15-5C05-4EFA-BAA7-13B5C9C7E0AC}">
      <dsp:nvSpPr>
        <dsp:cNvPr id="0" name=""/>
        <dsp:cNvSpPr/>
      </dsp:nvSpPr>
      <dsp:spPr>
        <a:xfrm>
          <a:off x="71551" y="194457"/>
          <a:ext cx="647864" cy="647864"/>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15C2EC2-9256-46ED-9D08-9EAEBD16E3BD}">
      <dsp:nvSpPr>
        <dsp:cNvPr id="0" name=""/>
        <dsp:cNvSpPr/>
      </dsp:nvSpPr>
      <dsp:spPr>
        <a:xfrm>
          <a:off x="821814" y="1036583"/>
          <a:ext cx="7155901" cy="518291"/>
        </a:xfrm>
        <a:prstGeom prst="rect">
          <a:avLst/>
        </a:prstGeom>
        <a:solidFill>
          <a:schemeClr val="accent4">
            <a:hueOff val="1960178"/>
            <a:satOff val="-8155"/>
            <a:lumOff val="1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IN" sz="2700" kern="1200" dirty="0"/>
            <a:t>Problem Statement &amp;</a:t>
          </a:r>
          <a:r>
            <a:rPr lang="en-US" sz="2700" kern="1200" dirty="0"/>
            <a:t> Objectives  </a:t>
          </a:r>
        </a:p>
      </dsp:txBody>
      <dsp:txXfrm>
        <a:off x="821814" y="1036583"/>
        <a:ext cx="7155901" cy="518291"/>
      </dsp:txXfrm>
    </dsp:sp>
    <dsp:sp modelId="{35F15237-59A9-4A82-BEFC-6DE7A150A4A1}">
      <dsp:nvSpPr>
        <dsp:cNvPr id="0" name=""/>
        <dsp:cNvSpPr/>
      </dsp:nvSpPr>
      <dsp:spPr>
        <a:xfrm>
          <a:off x="497881" y="971796"/>
          <a:ext cx="647864" cy="647864"/>
        </a:xfrm>
        <a:prstGeom prst="ellipse">
          <a:avLst/>
        </a:prstGeom>
        <a:solidFill>
          <a:schemeClr val="lt1">
            <a:hueOff val="0"/>
            <a:satOff val="0"/>
            <a:lumOff val="0"/>
            <a:alphaOff val="0"/>
          </a:schemeClr>
        </a:solidFill>
        <a:ln w="12700" cap="flat" cmpd="sng" algn="ctr">
          <a:solidFill>
            <a:schemeClr val="accent4">
              <a:hueOff val="1960178"/>
              <a:satOff val="-8155"/>
              <a:lumOff val="1922"/>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6F9D97-116F-498B-ABCD-39CDABBA1083}">
      <dsp:nvSpPr>
        <dsp:cNvPr id="0" name=""/>
        <dsp:cNvSpPr/>
      </dsp:nvSpPr>
      <dsp:spPr>
        <a:xfrm>
          <a:off x="1016764" y="1813921"/>
          <a:ext cx="6960951" cy="518291"/>
        </a:xfrm>
        <a:prstGeom prst="rect">
          <a:avLst/>
        </a:prstGeom>
        <a:solidFill>
          <a:schemeClr val="accent4">
            <a:hueOff val="3920356"/>
            <a:satOff val="-16311"/>
            <a:lumOff val="3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dirty="0"/>
            <a:t> </a:t>
          </a:r>
          <a:r>
            <a:rPr lang="en-US" sz="2700" kern="1200" dirty="0">
              <a:latin typeface="Times New Roman" panose="02020603050405020304" pitchFamily="18" charset="0"/>
              <a:cs typeface="Times New Roman" panose="02020603050405020304" pitchFamily="18" charset="0"/>
            </a:rPr>
            <a:t>Literature Review</a:t>
          </a:r>
          <a:endParaRPr lang="en-US" sz="2700" kern="1200" dirty="0"/>
        </a:p>
      </dsp:txBody>
      <dsp:txXfrm>
        <a:off x="1016764" y="1813921"/>
        <a:ext cx="6960951" cy="518291"/>
      </dsp:txXfrm>
    </dsp:sp>
    <dsp:sp modelId="{E31A1096-DBC4-4DB7-B32D-05ECC8818258}">
      <dsp:nvSpPr>
        <dsp:cNvPr id="0" name=""/>
        <dsp:cNvSpPr/>
      </dsp:nvSpPr>
      <dsp:spPr>
        <a:xfrm>
          <a:off x="692832" y="1749135"/>
          <a:ext cx="647864" cy="647864"/>
        </a:xfrm>
        <a:prstGeom prst="ellipse">
          <a:avLst/>
        </a:prstGeom>
        <a:solidFill>
          <a:schemeClr val="lt1">
            <a:hueOff val="0"/>
            <a:satOff val="0"/>
            <a:lumOff val="0"/>
            <a:alphaOff val="0"/>
          </a:schemeClr>
        </a:solidFill>
        <a:ln w="12700" cap="flat" cmpd="sng" algn="ctr">
          <a:solidFill>
            <a:schemeClr val="accent4">
              <a:hueOff val="3920356"/>
              <a:satOff val="-16311"/>
              <a:lumOff val="3843"/>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0185CC-A8E7-4755-9B22-082E51E6D679}">
      <dsp:nvSpPr>
        <dsp:cNvPr id="0" name=""/>
        <dsp:cNvSpPr/>
      </dsp:nvSpPr>
      <dsp:spPr>
        <a:xfrm>
          <a:off x="1016764" y="2590768"/>
          <a:ext cx="6960951" cy="518291"/>
        </a:xfrm>
        <a:prstGeom prst="rect">
          <a:avLst/>
        </a:prstGeom>
        <a:solidFill>
          <a:schemeClr val="accent4">
            <a:hueOff val="5880535"/>
            <a:satOff val="-24466"/>
            <a:lumOff val="5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dirty="0"/>
            <a:t> Dataset Description &amp; Methodology</a:t>
          </a:r>
        </a:p>
      </dsp:txBody>
      <dsp:txXfrm>
        <a:off x="1016764" y="2590768"/>
        <a:ext cx="6960951" cy="518291"/>
      </dsp:txXfrm>
    </dsp:sp>
    <dsp:sp modelId="{A36ED556-2035-4E1B-BDCF-FC0D794C6BE8}">
      <dsp:nvSpPr>
        <dsp:cNvPr id="0" name=""/>
        <dsp:cNvSpPr/>
      </dsp:nvSpPr>
      <dsp:spPr>
        <a:xfrm>
          <a:off x="692832" y="2525982"/>
          <a:ext cx="647864" cy="647864"/>
        </a:xfrm>
        <a:prstGeom prst="ellipse">
          <a:avLst/>
        </a:prstGeom>
        <a:solidFill>
          <a:schemeClr val="lt1">
            <a:hueOff val="0"/>
            <a:satOff val="0"/>
            <a:lumOff val="0"/>
            <a:alphaOff val="0"/>
          </a:schemeClr>
        </a:solidFill>
        <a:ln w="12700" cap="flat" cmpd="sng" algn="ctr">
          <a:solidFill>
            <a:schemeClr val="accent4">
              <a:hueOff val="5880535"/>
              <a:satOff val="-24466"/>
              <a:lumOff val="5765"/>
              <a:alphaOff val="0"/>
            </a:schemeClr>
          </a:solidFill>
          <a:prstDash val="solid"/>
          <a:miter lim="800000"/>
        </a:ln>
        <a:effectLst/>
      </dsp:spPr>
      <dsp:style>
        <a:lnRef idx="2">
          <a:scrgbClr r="0" g="0" b="0"/>
        </a:lnRef>
        <a:fillRef idx="1">
          <a:scrgbClr r="0" g="0" b="0"/>
        </a:fillRef>
        <a:effectRef idx="0">
          <a:scrgbClr r="0" g="0" b="0"/>
        </a:effectRef>
        <a:fontRef idx="minor"/>
      </dsp:style>
    </dsp:sp>
    <dsp:sp modelId="{958BCDDF-1CFE-44CF-90C0-2C17565DE80D}">
      <dsp:nvSpPr>
        <dsp:cNvPr id="0" name=""/>
        <dsp:cNvSpPr/>
      </dsp:nvSpPr>
      <dsp:spPr>
        <a:xfrm>
          <a:off x="821814" y="3368107"/>
          <a:ext cx="7155901" cy="518291"/>
        </a:xfrm>
        <a:prstGeom prst="rect">
          <a:avLst/>
        </a:prstGeom>
        <a:solidFill>
          <a:schemeClr val="accent4">
            <a:hueOff val="7840713"/>
            <a:satOff val="-32622"/>
            <a:lumOff val="76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dirty="0"/>
            <a:t>Swot Analysis &amp; Pert Chart</a:t>
          </a:r>
        </a:p>
      </dsp:txBody>
      <dsp:txXfrm>
        <a:off x="821814" y="3368107"/>
        <a:ext cx="7155901" cy="518291"/>
      </dsp:txXfrm>
    </dsp:sp>
    <dsp:sp modelId="{01502C9E-E4DE-4B21-93FA-31D80900439D}">
      <dsp:nvSpPr>
        <dsp:cNvPr id="0" name=""/>
        <dsp:cNvSpPr/>
      </dsp:nvSpPr>
      <dsp:spPr>
        <a:xfrm>
          <a:off x="497881" y="3303320"/>
          <a:ext cx="647864" cy="647864"/>
        </a:xfrm>
        <a:prstGeom prst="ellipse">
          <a:avLst/>
        </a:prstGeom>
        <a:solidFill>
          <a:schemeClr val="lt1">
            <a:hueOff val="0"/>
            <a:satOff val="0"/>
            <a:lumOff val="0"/>
            <a:alphaOff val="0"/>
          </a:schemeClr>
        </a:solidFill>
        <a:ln w="12700" cap="flat" cmpd="sng" algn="ctr">
          <a:solidFill>
            <a:schemeClr val="accent4">
              <a:hueOff val="7840713"/>
              <a:satOff val="-32622"/>
              <a:lumOff val="7686"/>
              <a:alphaOff val="0"/>
            </a:schemeClr>
          </a:solidFill>
          <a:prstDash val="solid"/>
          <a:miter lim="800000"/>
        </a:ln>
        <a:effectLst/>
      </dsp:spPr>
      <dsp:style>
        <a:lnRef idx="2">
          <a:scrgbClr r="0" g="0" b="0"/>
        </a:lnRef>
        <a:fillRef idx="1">
          <a:scrgbClr r="0" g="0" b="0"/>
        </a:fillRef>
        <a:effectRef idx="0">
          <a:scrgbClr r="0" g="0" b="0"/>
        </a:effectRef>
        <a:fontRef idx="minor"/>
      </dsp:style>
    </dsp:sp>
    <dsp:sp modelId="{77AE8CE1-4547-4654-B9F2-FFE097F31875}">
      <dsp:nvSpPr>
        <dsp:cNvPr id="0" name=""/>
        <dsp:cNvSpPr/>
      </dsp:nvSpPr>
      <dsp:spPr>
        <a:xfrm>
          <a:off x="395483" y="4145446"/>
          <a:ext cx="7582231" cy="518291"/>
        </a:xfrm>
        <a:prstGeom prst="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dirty="0"/>
            <a:t>Conclusion &amp; </a:t>
          </a:r>
          <a:r>
            <a:rPr lang="en-IN" sz="2700" kern="1200" dirty="0"/>
            <a:t>References </a:t>
          </a:r>
          <a:endParaRPr lang="en-US" sz="2700" kern="1200" dirty="0"/>
        </a:p>
      </dsp:txBody>
      <dsp:txXfrm>
        <a:off x="395483" y="4145446"/>
        <a:ext cx="7582231" cy="518291"/>
      </dsp:txXfrm>
    </dsp:sp>
    <dsp:sp modelId="{A9A85795-993D-415E-8DBB-D04D40D58D20}">
      <dsp:nvSpPr>
        <dsp:cNvPr id="0" name=""/>
        <dsp:cNvSpPr/>
      </dsp:nvSpPr>
      <dsp:spPr>
        <a:xfrm>
          <a:off x="71551" y="4080659"/>
          <a:ext cx="647864" cy="647864"/>
        </a:xfrm>
        <a:prstGeom prst="ellipse">
          <a:avLst/>
        </a:prstGeom>
        <a:solidFill>
          <a:schemeClr val="lt1">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9D15D-1C13-CC45-BE09-4D54E9A973B4}" type="datetimeFigureOut">
              <a:rPr lang="en-US" smtClean="0"/>
              <a:t>3/6/2026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3A8CF-95A7-924D-878B-183116A25DFA}" type="slidenum">
              <a:rPr lang="en-US" smtClean="0"/>
              <a:t>‹#›</a:t>
            </a:fld>
            <a:endParaRPr lang="en-US" dirty="0"/>
          </a:p>
        </p:txBody>
      </p:sp>
    </p:spTree>
    <p:extLst>
      <p:ext uri="{BB962C8B-B14F-4D97-AF65-F5344CB8AC3E}">
        <p14:creationId xmlns:p14="http://schemas.microsoft.com/office/powerpoint/2010/main" val="392396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73FB-2D72-9945-BF45-5347690BBEB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D93C615-989D-9D44-8501-FCE01FCEDC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9E5F24-53F9-054C-A9F8-3DCFACAB9877}"/>
              </a:ext>
            </a:extLst>
          </p:cNvPr>
          <p:cNvSpPr>
            <a:spLocks noGrp="1"/>
          </p:cNvSpPr>
          <p:nvPr>
            <p:ph type="dt" sz="half" idx="10"/>
          </p:nvPr>
        </p:nvSpPr>
        <p:spPr>
          <a:xfrm>
            <a:off x="838200" y="6356350"/>
            <a:ext cx="2743200" cy="365125"/>
          </a:xfrm>
          <a:prstGeom prst="rect">
            <a:avLst/>
          </a:prstGeom>
        </p:spPr>
        <p:txBody>
          <a:bodyPr/>
          <a:lstStyle/>
          <a:p>
            <a:fld id="{FD3D9895-3AFC-9E49-BB6B-D5AF81433D95}" type="datetimeFigureOut">
              <a:rPr lang="en-US" smtClean="0"/>
              <a:t>3/6/2026</a:t>
            </a:fld>
            <a:endParaRPr lang="en-US" dirty="0"/>
          </a:p>
        </p:txBody>
      </p:sp>
      <p:sp>
        <p:nvSpPr>
          <p:cNvPr id="5" name="Footer Placeholder 4">
            <a:extLst>
              <a:ext uri="{FF2B5EF4-FFF2-40B4-BE49-F238E27FC236}">
                <a16:creationId xmlns:a16="http://schemas.microsoft.com/office/drawing/2014/main" id="{69BE7FB8-C70E-584A-A086-8852BD63952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E755C156-1A78-7A4C-AB86-BCA1B1785D83}"/>
              </a:ext>
            </a:extLst>
          </p:cNvPr>
          <p:cNvSpPr>
            <a:spLocks noGrp="1"/>
          </p:cNvSpPr>
          <p:nvPr>
            <p:ph type="sldNum" sz="quarter" idx="12"/>
          </p:nvPr>
        </p:nvSpPr>
        <p:spPr>
          <a:xfrm>
            <a:off x="8610600" y="6356350"/>
            <a:ext cx="2743200" cy="365125"/>
          </a:xfrm>
          <a:prstGeom prst="rect">
            <a:avLst/>
          </a:prstGeom>
        </p:spPr>
        <p:txBody>
          <a:bodyPr/>
          <a:lstStyle/>
          <a:p>
            <a:fld id="{CF45BD75-B1E6-DE4E-8CD3-58B4BE092B5A}" type="slidenum">
              <a:rPr lang="en-US" smtClean="0"/>
              <a:t>‹#›</a:t>
            </a:fld>
            <a:endParaRPr lang="en-US" dirty="0"/>
          </a:p>
        </p:txBody>
      </p:sp>
    </p:spTree>
    <p:extLst>
      <p:ext uri="{BB962C8B-B14F-4D97-AF65-F5344CB8AC3E}">
        <p14:creationId xmlns:p14="http://schemas.microsoft.com/office/powerpoint/2010/main" val="77771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240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1703F520-AAB7-4D20-958E-A456239933B0}" type="datetimeFigureOut">
              <a:rPr lang="en-US" smtClean="0"/>
              <a:t>3/6/2026</a:t>
            </a:fld>
            <a:endParaRPr lang="en-US" dirty="0"/>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CD3316BF-8A16-4F24-9F8F-9D40354D5A5C}" type="slidenum">
              <a:rPr lang="en-US" smtClean="0"/>
              <a:t>‹#›</a:t>
            </a:fld>
            <a:endParaRPr lang="en-US" dirty="0"/>
          </a:p>
        </p:txBody>
      </p:sp>
    </p:spTree>
    <p:extLst>
      <p:ext uri="{BB962C8B-B14F-4D97-AF65-F5344CB8AC3E}">
        <p14:creationId xmlns:p14="http://schemas.microsoft.com/office/powerpoint/2010/main" val="2737340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C0DC26-5D78-6140-BF89-41378C4365C1}"/>
              </a:ext>
            </a:extLst>
          </p:cNvPr>
          <p:cNvSpPr/>
          <p:nvPr userDrawn="1"/>
        </p:nvSpPr>
        <p:spPr>
          <a:xfrm>
            <a:off x="98853" y="86497"/>
            <a:ext cx="11998411" cy="6685005"/>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C5EF86C0-A360-484B-B595-7CC69137B538}"/>
              </a:ext>
            </a:extLst>
          </p:cNvPr>
          <p:cNvPicPr>
            <a:picLocks noChangeAspect="1"/>
          </p:cNvPicPr>
          <p:nvPr userDrawn="1"/>
        </p:nvPicPr>
        <p:blipFill rotWithShape="1">
          <a:blip r:embed="rId5"/>
          <a:srcRect t="12813" r="7454"/>
          <a:stretch/>
        </p:blipFill>
        <p:spPr>
          <a:xfrm>
            <a:off x="10718090" y="127821"/>
            <a:ext cx="1336257" cy="540774"/>
          </a:xfrm>
          <a:prstGeom prst="rect">
            <a:avLst/>
          </a:prstGeom>
        </p:spPr>
      </p:pic>
    </p:spTree>
    <p:extLst>
      <p:ext uri="{BB962C8B-B14F-4D97-AF65-F5344CB8AC3E}">
        <p14:creationId xmlns:p14="http://schemas.microsoft.com/office/powerpoint/2010/main" val="2038464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8895C2-828B-934B-8B58-BBC23AD3665A}"/>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text, sign, outdoor&#10;&#10;Description automatically generated">
            <a:extLst>
              <a:ext uri="{FF2B5EF4-FFF2-40B4-BE49-F238E27FC236}">
                <a16:creationId xmlns:a16="http://schemas.microsoft.com/office/drawing/2014/main" id="{35C12C04-5CEF-8448-B70C-56FE6AD03CE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4829" y="126108"/>
            <a:ext cx="876170" cy="149167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2F2F3CE5-A64B-4B6C-9275-01E87181FAAF}"/>
              </a:ext>
            </a:extLst>
          </p:cNvPr>
          <p:cNvPicPr>
            <a:picLocks noChangeAspect="1"/>
          </p:cNvPicPr>
          <p:nvPr/>
        </p:nvPicPr>
        <p:blipFill>
          <a:blip r:embed="rId3"/>
          <a:stretch>
            <a:fillRect/>
          </a:stretch>
        </p:blipFill>
        <p:spPr>
          <a:xfrm>
            <a:off x="7615711" y="143688"/>
            <a:ext cx="4433534" cy="1431888"/>
          </a:xfrm>
          <a:prstGeom prst="rect">
            <a:avLst/>
          </a:prstGeom>
        </p:spPr>
      </p:pic>
      <p:sp>
        <p:nvSpPr>
          <p:cNvPr id="2" name="TextBox 1"/>
          <p:cNvSpPr txBox="1"/>
          <p:nvPr/>
        </p:nvSpPr>
        <p:spPr>
          <a:xfrm>
            <a:off x="3353657" y="1855399"/>
            <a:ext cx="6701245" cy="923330"/>
          </a:xfrm>
          <a:prstGeom prst="rect">
            <a:avLst/>
          </a:prstGeom>
          <a:noFill/>
        </p:spPr>
        <p:txBody>
          <a:bodyPr wrap="square" lIns="91440" tIns="45720" rIns="91440" bIns="45720" rtlCol="0" anchor="t">
            <a:spAutoFit/>
          </a:bodyPr>
          <a:lstStyle/>
          <a:p>
            <a:r>
              <a:rPr lang="en-IN" sz="5400" dirty="0">
                <a:latin typeface="Times New Roman"/>
                <a:cs typeface="Times New Roman"/>
              </a:rPr>
              <a:t>Major Project</a:t>
            </a:r>
          </a:p>
        </p:txBody>
      </p:sp>
      <p:sp>
        <p:nvSpPr>
          <p:cNvPr id="4" name="TextBox 3"/>
          <p:cNvSpPr txBox="1"/>
          <p:nvPr/>
        </p:nvSpPr>
        <p:spPr>
          <a:xfrm>
            <a:off x="304829" y="2919388"/>
            <a:ext cx="9948555" cy="1077218"/>
          </a:xfrm>
          <a:prstGeom prst="rect">
            <a:avLst/>
          </a:prstGeom>
          <a:noFill/>
        </p:spPr>
        <p:txBody>
          <a:bodyPr wrap="square" rtlCol="0">
            <a:spAutoFit/>
          </a:bodyPr>
          <a:lstStyle/>
          <a:p>
            <a:pPr algn="ctr"/>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C2F12844-7D7B-9449-9B33-46EA047F7017}"/>
              </a:ext>
            </a:extLst>
          </p:cNvPr>
          <p:cNvSpPr txBox="1"/>
          <p:nvPr/>
        </p:nvSpPr>
        <p:spPr>
          <a:xfrm>
            <a:off x="304829" y="5145530"/>
            <a:ext cx="6097656" cy="1200329"/>
          </a:xfrm>
          <a:prstGeom prst="rect">
            <a:avLst/>
          </a:prstGeom>
          <a:noFill/>
        </p:spPr>
        <p:txBody>
          <a:bodyPr wrap="square">
            <a:spAutoFit/>
          </a:bodyPr>
          <a:lstStyle/>
          <a:p>
            <a:pPr rtl="0">
              <a:spcBef>
                <a:spcPts val="0"/>
              </a:spcBef>
              <a:spcAft>
                <a:spcPts val="0"/>
              </a:spcAft>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Presented by:</a:t>
            </a:r>
            <a:endParaRPr lang="en-IN" b="0" dirty="0">
              <a:effectLst/>
              <a:latin typeface="Times New Roman" panose="02020603050405020304" pitchFamily="18" charset="0"/>
              <a:cs typeface="Times New Roman" panose="02020603050405020304" pitchFamily="18" charset="0"/>
            </a:endParaRPr>
          </a:p>
          <a:p>
            <a:pPr algn="just"/>
            <a:r>
              <a:rPr lang="en-US" dirty="0">
                <a:solidFill>
                  <a:srgbClr val="000000"/>
                </a:solidFill>
                <a:latin typeface="Times New Roman" panose="02020603050405020304" pitchFamily="18" charset="0"/>
                <a:cs typeface="Times New Roman" panose="02020603050405020304" pitchFamily="18" charset="0"/>
              </a:rPr>
              <a:t>Suraj Kumar - 590016150</a:t>
            </a:r>
          </a:p>
          <a:p>
            <a:pPr algn="just"/>
            <a:r>
              <a:rPr lang="en-US" dirty="0">
                <a:solidFill>
                  <a:srgbClr val="000000"/>
                </a:solidFill>
                <a:latin typeface="Times New Roman" panose="02020603050405020304" pitchFamily="18" charset="0"/>
                <a:cs typeface="Times New Roman" panose="02020603050405020304" pitchFamily="18" charset="0"/>
              </a:rPr>
              <a:t>Lucky Patel - 590016745</a:t>
            </a:r>
          </a:p>
          <a:p>
            <a:pPr algn="just"/>
            <a:r>
              <a:rPr lang="en-US" dirty="0">
                <a:solidFill>
                  <a:srgbClr val="000000"/>
                </a:solidFill>
                <a:latin typeface="Times New Roman" panose="02020603050405020304" pitchFamily="18" charset="0"/>
                <a:cs typeface="Times New Roman" panose="02020603050405020304" pitchFamily="18" charset="0"/>
              </a:rPr>
              <a:t>Abhishek Kumar - 590018800 </a:t>
            </a:r>
          </a:p>
        </p:txBody>
      </p:sp>
      <p:sp>
        <p:nvSpPr>
          <p:cNvPr id="12" name="TextBox 11">
            <a:extLst>
              <a:ext uri="{FF2B5EF4-FFF2-40B4-BE49-F238E27FC236}">
                <a16:creationId xmlns:a16="http://schemas.microsoft.com/office/drawing/2014/main" id="{0581529D-3593-AE4E-9F50-CD8F5082B00A}"/>
              </a:ext>
            </a:extLst>
          </p:cNvPr>
          <p:cNvSpPr txBox="1"/>
          <p:nvPr/>
        </p:nvSpPr>
        <p:spPr>
          <a:xfrm>
            <a:off x="8802571" y="5007030"/>
            <a:ext cx="3389429" cy="1477328"/>
          </a:xfrm>
          <a:prstGeom prst="rect">
            <a:avLst/>
          </a:prstGeom>
          <a:noFill/>
        </p:spPr>
        <p:txBody>
          <a:bodyPr wrap="square">
            <a:spAutoFit/>
          </a:bodyPr>
          <a:lstStyle/>
          <a:p>
            <a:r>
              <a:rPr lang="en-IN" b="1" dirty="0">
                <a:solidFill>
                  <a:srgbClr val="000000"/>
                </a:solidFill>
                <a:latin typeface="Times New Roman" panose="02020603050405020304" pitchFamily="18" charset="0"/>
                <a:cs typeface="Times New Roman" panose="02020603050405020304" pitchFamily="18" charset="0"/>
              </a:rPr>
              <a:t>Industry Mentor: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Ms. Pooja Singh </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1" dirty="0">
                <a:solidFill>
                  <a:srgbClr val="000000"/>
                </a:solidFill>
                <a:latin typeface="Times New Roman" panose="02020603050405020304" pitchFamily="18" charset="0"/>
                <a:cs typeface="Times New Roman" panose="02020603050405020304" pitchFamily="18" charset="0"/>
              </a:rPr>
              <a:t>UPES Mentor:</a:t>
            </a:r>
          </a:p>
          <a:p>
            <a:r>
              <a:rPr lang="en-IN" sz="1800" b="0" i="0" u="none" strike="noStrike" dirty="0" err="1">
                <a:solidFill>
                  <a:srgbClr val="000000"/>
                </a:solidFill>
                <a:effectLst/>
                <a:latin typeface="Aptos" panose="020B0004020202020204" pitchFamily="34" charset="0"/>
              </a:rPr>
              <a:t>Dr.</a:t>
            </a:r>
            <a:r>
              <a:rPr lang="en-IN" sz="1800" b="0" i="0" u="none" strike="noStrike" dirty="0">
                <a:solidFill>
                  <a:srgbClr val="000000"/>
                </a:solidFill>
                <a:effectLst/>
                <a:latin typeface="Aptos" panose="020B0004020202020204" pitchFamily="34" charset="0"/>
              </a:rPr>
              <a:t> Suresh </a:t>
            </a:r>
            <a:r>
              <a:rPr lang="en-IN" sz="1800" b="0" i="0" u="none" strike="noStrike" dirty="0" err="1">
                <a:solidFill>
                  <a:srgbClr val="000000"/>
                </a:solidFill>
                <a:effectLst/>
                <a:latin typeface="Aptos" panose="020B0004020202020204" pitchFamily="34" charset="0"/>
              </a:rPr>
              <a:t>Veesa</a:t>
            </a:r>
            <a:r>
              <a:rPr lang="en-IN" sz="1800" b="0" i="0" u="none" strike="noStrike" dirty="0">
                <a:solidFill>
                  <a:srgbClr val="000000"/>
                </a:solidFill>
                <a:effectLst/>
                <a:latin typeface="Aptos" panose="020B0004020202020204" pitchFamily="34" charset="0"/>
              </a:rPr>
              <a:t> </a:t>
            </a:r>
          </a:p>
        </p:txBody>
      </p:sp>
      <p:sp>
        <p:nvSpPr>
          <p:cNvPr id="9" name="TextBox 8">
            <a:extLst>
              <a:ext uri="{FF2B5EF4-FFF2-40B4-BE49-F238E27FC236}">
                <a16:creationId xmlns:a16="http://schemas.microsoft.com/office/drawing/2014/main" id="{3448B74F-205E-C6B2-52EE-EBADFE01806D}"/>
              </a:ext>
            </a:extLst>
          </p:cNvPr>
          <p:cNvSpPr txBox="1"/>
          <p:nvPr/>
        </p:nvSpPr>
        <p:spPr>
          <a:xfrm>
            <a:off x="967408" y="3540180"/>
            <a:ext cx="9866243"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Autonomous AI Customer Support Agent Voice and Chat</a:t>
            </a:r>
            <a:endParaRPr lang="en-IN" sz="2500" b="0" i="0" u="none" strike="noStrike"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5004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solidFill>
                  <a:srgbClr val="46B0FA"/>
                </a:solidFill>
                <a:latin typeface="Times New Roman" panose="02020603050405020304" pitchFamily="18" charset="0"/>
                <a:cs typeface="Times New Roman" panose="02020603050405020304" pitchFamily="18" charset="0"/>
              </a:rPr>
              <a:t>Content</a:t>
            </a:r>
            <a:endParaRPr lang="en-IN" sz="3200" b="1" dirty="0">
              <a:solidFill>
                <a:srgbClr val="46B0FA"/>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6168532-D141-4AB0-BD29-1663F2877B3E}"/>
              </a:ext>
            </a:extLst>
          </p:cNvPr>
          <p:cNvSpPr txBox="1"/>
          <p:nvPr/>
        </p:nvSpPr>
        <p:spPr>
          <a:xfrm>
            <a:off x="447226" y="457200"/>
            <a:ext cx="3443640" cy="6771084"/>
          </a:xfrm>
          <a:prstGeom prst="rect">
            <a:avLst/>
          </a:prstGeom>
          <a:noFill/>
        </p:spPr>
        <p:txBody>
          <a:bodyPr wrap="square" rtlCol="0">
            <a:spAutoFit/>
          </a:bodyPr>
          <a:lstStyle/>
          <a:p>
            <a:pPr>
              <a:lnSpc>
                <a:spcPct val="150000"/>
              </a:lnSpc>
            </a:pP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Problem Statement</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Objective</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Literature Review</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Dataset Description</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Methodology</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Swot Analysis </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Pert Chart</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Conclusion</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References</a:t>
            </a: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9DCD99E8-9662-B8DA-7EB1-CF455B91C804}"/>
              </a:ext>
            </a:extLst>
          </p:cNvPr>
          <p:cNvGraphicFramePr/>
          <p:nvPr>
            <p:extLst>
              <p:ext uri="{D42A27DB-BD31-4B8C-83A1-F6EECF244321}">
                <p14:modId xmlns:p14="http://schemas.microsoft.com/office/powerpoint/2010/main" val="3507177280"/>
              </p:ext>
            </p:extLst>
          </p:nvPr>
        </p:nvGraphicFramePr>
        <p:xfrm>
          <a:off x="3275044" y="967509"/>
          <a:ext cx="8046469" cy="49229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9729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257637" y="343540"/>
            <a:ext cx="3987791"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1. Introduction</a:t>
            </a:r>
          </a:p>
        </p:txBody>
      </p:sp>
      <p:sp>
        <p:nvSpPr>
          <p:cNvPr id="4" name="TextBox 3">
            <a:extLst>
              <a:ext uri="{FF2B5EF4-FFF2-40B4-BE49-F238E27FC236}">
                <a16:creationId xmlns:a16="http://schemas.microsoft.com/office/drawing/2014/main" id="{540DC9D6-84D3-9C48-8607-09C63F3A3B53}"/>
              </a:ext>
            </a:extLst>
          </p:cNvPr>
          <p:cNvSpPr txBox="1"/>
          <p:nvPr/>
        </p:nvSpPr>
        <p:spPr>
          <a:xfrm>
            <a:off x="439145" y="1050229"/>
            <a:ext cx="10901645" cy="461665"/>
          </a:xfrm>
          <a:prstGeom prst="rect">
            <a:avLst/>
          </a:prstGeom>
          <a:noFill/>
        </p:spPr>
        <p:txBody>
          <a:bodyPr wrap="square">
            <a:spAutoFit/>
          </a:bodyPr>
          <a:lstStyle/>
          <a:p>
            <a:pPr algn="just"/>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8E2D086-CB08-B8EC-03A3-C47168579B25}"/>
              </a:ext>
            </a:extLst>
          </p:cNvPr>
          <p:cNvSpPr txBox="1"/>
          <p:nvPr/>
        </p:nvSpPr>
        <p:spPr>
          <a:xfrm>
            <a:off x="257637" y="928315"/>
            <a:ext cx="11280711" cy="4016484"/>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In the digital era, e-commerce platforms require fast and efficient customer support. Traditional human-based support faces issues like high cost, slow response, and limited scalability. This project develops an Autonomous AI Customer Support Agent using NLP and speech recognition, enabling chat and voice interactions to provide real-time assistance and improve user experience on an online bookstore. </a:t>
            </a:r>
          </a:p>
          <a:p>
            <a:endParaRPr lang="en-US" sz="1500" dirty="0">
              <a:latin typeface="Times New Roman" panose="02020603050405020304" pitchFamily="18" charset="0"/>
              <a:cs typeface="Times New Roman" panose="02020603050405020304" pitchFamily="18" charset="0"/>
            </a:endParaRPr>
          </a:p>
          <a:p>
            <a:r>
              <a:rPr lang="en-IN" sz="1600" b="1" u="sng" dirty="0">
                <a:latin typeface="Times New Roman" panose="02020603050405020304" pitchFamily="18" charset="0"/>
                <a:cs typeface="Times New Roman" panose="02020603050405020304" pitchFamily="18" charset="0"/>
              </a:rPr>
              <a:t>Background, Motivation &amp; Problem Context</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Support Issues:</a:t>
            </a:r>
          </a:p>
          <a:p>
            <a:pPr marL="857250" lvl="1" indent="-400050" eaLnBrk="0" fontAlgn="base" hangingPunct="0">
              <a:spcBef>
                <a:spcPct val="0"/>
              </a:spcBef>
              <a:spcAft>
                <a:spcPct val="0"/>
              </a:spcAft>
              <a:buFont typeface="+mj-lt"/>
              <a:buAutoNum type="romanL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Slow Response Time</a:t>
            </a:r>
          </a:p>
          <a:p>
            <a:pPr marL="857250" lvl="1" indent="-400050" eaLnBrk="0" fontAlgn="base" hangingPunct="0">
              <a:spcBef>
                <a:spcPct val="0"/>
              </a:spcBef>
              <a:spcAft>
                <a:spcPct val="0"/>
              </a:spcAft>
              <a:buFont typeface="+mj-lt"/>
              <a:buAutoNum type="romanL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Scalable During Peak Traffic</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Growing Demand for Conversational Interfaces</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Popularity of Voice-Based Interaction</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Motivation:</a:t>
            </a:r>
          </a:p>
          <a:p>
            <a:pPr marL="857250" lvl="1" indent="-400050" eaLnBrk="0" fontAlgn="base" hangingPunct="0">
              <a:spcBef>
                <a:spcPct val="0"/>
              </a:spcBef>
              <a:spcAft>
                <a:spcPct val="0"/>
              </a:spcAft>
              <a:buFont typeface="+mj-lt"/>
              <a:buAutoNum type="romanL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NLP &amp; Speech Recognition</a:t>
            </a:r>
          </a:p>
          <a:p>
            <a:pPr marL="857250" lvl="1" indent="-400050" eaLnBrk="0" fontAlgn="base" hangingPunct="0">
              <a:spcBef>
                <a:spcPct val="0"/>
              </a:spcBef>
              <a:spcAft>
                <a:spcPct val="0"/>
              </a:spcAft>
              <a:buFont typeface="+mj-lt"/>
              <a:buAutoNum type="romanL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Real-Time Assistance</a:t>
            </a:r>
          </a:p>
          <a:p>
            <a:pPr marL="857250" lvl="1" indent="-400050" eaLnBrk="0" fontAlgn="base" hangingPunct="0">
              <a:spcBef>
                <a:spcPct val="0"/>
              </a:spcBef>
              <a:spcAft>
                <a:spcPct val="0"/>
              </a:spcAft>
              <a:buFont typeface="+mj-lt"/>
              <a:buAutoNum type="romanL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User Experience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963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8" y="248626"/>
            <a:ext cx="434870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2. Problem Statement</a:t>
            </a:r>
          </a:p>
        </p:txBody>
      </p:sp>
      <p:sp>
        <p:nvSpPr>
          <p:cNvPr id="4" name="TextBox 3">
            <a:extLst>
              <a:ext uri="{FF2B5EF4-FFF2-40B4-BE49-F238E27FC236}">
                <a16:creationId xmlns:a16="http://schemas.microsoft.com/office/drawing/2014/main" id="{C42B5118-472F-A8DF-1A9C-F3C7C892B232}"/>
              </a:ext>
            </a:extLst>
          </p:cNvPr>
          <p:cNvSpPr txBox="1"/>
          <p:nvPr/>
        </p:nvSpPr>
        <p:spPr>
          <a:xfrm>
            <a:off x="431351" y="926707"/>
            <a:ext cx="10140234" cy="286232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Autonomous Ai customer support agent voice and chat.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Project Builds an Ai powered virtual assistant capable of handling customer queries through both voice and chat. It uses natural language processing, speech recognition, and intent classification to understand customer request and generate customer requests and generate appropriate responses .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model enable real time human responses, reducing dependence on human agents and improving overall customer support efficiency</a:t>
            </a:r>
          </a:p>
        </p:txBody>
      </p:sp>
    </p:spTree>
    <p:extLst>
      <p:ext uri="{BB962C8B-B14F-4D97-AF65-F5344CB8AC3E}">
        <p14:creationId xmlns:p14="http://schemas.microsoft.com/office/powerpoint/2010/main" val="2314005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A1FAA2-CFD3-BBE6-FBEA-65EC3F16DBA6}"/>
              </a:ext>
            </a:extLst>
          </p:cNvPr>
          <p:cNvSpPr txBox="1"/>
          <p:nvPr/>
        </p:nvSpPr>
        <p:spPr>
          <a:xfrm>
            <a:off x="361709" y="255699"/>
            <a:ext cx="609407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3. Objective</a:t>
            </a:r>
          </a:p>
        </p:txBody>
      </p:sp>
      <p:sp>
        <p:nvSpPr>
          <p:cNvPr id="4" name="TextBox 3">
            <a:extLst>
              <a:ext uri="{FF2B5EF4-FFF2-40B4-BE49-F238E27FC236}">
                <a16:creationId xmlns:a16="http://schemas.microsoft.com/office/drawing/2014/main" id="{BA53268C-7D86-62C4-9A3E-2D17EACD8898}"/>
              </a:ext>
            </a:extLst>
          </p:cNvPr>
          <p:cNvSpPr txBox="1"/>
          <p:nvPr/>
        </p:nvSpPr>
        <p:spPr>
          <a:xfrm>
            <a:off x="361709" y="1041722"/>
            <a:ext cx="9387068" cy="3970318"/>
          </a:xfrm>
          <a:prstGeom prst="rect">
            <a:avLst/>
          </a:prstGeom>
          <a:noFill/>
        </p:spPr>
        <p:txBody>
          <a:bodyPr wrap="square" rtlCol="0">
            <a:spAutoFit/>
          </a:bodyPr>
          <a:lstStyle/>
          <a:p>
            <a:pPr marL="342900" indent="-342900">
              <a:buAutoNum type="arabicPeriod"/>
            </a:pPr>
            <a:r>
              <a:rPr lang="en-US" dirty="0">
                <a:latin typeface="Times New Roman" panose="02020603050405020304" pitchFamily="18" charset="0"/>
                <a:cs typeface="Times New Roman" panose="02020603050405020304" pitchFamily="18" charset="0"/>
              </a:rPr>
              <a:t>The primary objective of this project is that supports both text and voice communication within an online bookstore platform.</a:t>
            </a:r>
          </a:p>
          <a:p>
            <a:pPr marL="342900" indent="-342900">
              <a:buAutoNum type="arabicPeriod"/>
            </a:pP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It includes an NLP-based chatbot capable of understanding and responding to user queries.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Voice interaction is enabled using speech recognition technology.</a:t>
            </a:r>
          </a:p>
          <a:p>
            <a:pPr marL="342900" indent="-342900">
              <a:buAutoNum type="arabicPeriod"/>
            </a:pP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The project also focuses on integrating AI assistance with book browsing and purchasing functionalities.</a:t>
            </a:r>
          </a:p>
          <a:p>
            <a:pPr marL="342900" indent="-342900">
              <a:buAutoNum type="arabicPeriod"/>
            </a:pP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By automating common queries, the system reduces dependency on human agents and improves efficiency.</a:t>
            </a:r>
          </a:p>
          <a:p>
            <a:pPr marL="342900" indent="-342900">
              <a:buAutoNum type="arabicPeriod"/>
            </a:pP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Overall, the goal is to enhance user experience and demonstrate the integration of AI technologies in a practical and scalable application.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759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79141" y="201140"/>
            <a:ext cx="509610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4. Literature Review</a:t>
            </a:r>
          </a:p>
        </p:txBody>
      </p:sp>
      <p:graphicFrame>
        <p:nvGraphicFramePr>
          <p:cNvPr id="6" name="Table 5">
            <a:extLst>
              <a:ext uri="{FF2B5EF4-FFF2-40B4-BE49-F238E27FC236}">
                <a16:creationId xmlns:a16="http://schemas.microsoft.com/office/drawing/2014/main" id="{57A80CFE-4BBE-549F-D096-505EB0F2EA4A}"/>
              </a:ext>
            </a:extLst>
          </p:cNvPr>
          <p:cNvGraphicFramePr>
            <a:graphicFrameLocks noGrp="1"/>
          </p:cNvGraphicFramePr>
          <p:nvPr>
            <p:extLst>
              <p:ext uri="{D42A27DB-BD31-4B8C-83A1-F6EECF244321}">
                <p14:modId xmlns:p14="http://schemas.microsoft.com/office/powerpoint/2010/main" val="1413781632"/>
              </p:ext>
            </p:extLst>
          </p:nvPr>
        </p:nvGraphicFramePr>
        <p:xfrm>
          <a:off x="200627" y="662473"/>
          <a:ext cx="11611926" cy="6035040"/>
        </p:xfrm>
        <a:graphic>
          <a:graphicData uri="http://schemas.openxmlformats.org/drawingml/2006/table">
            <a:tbl>
              <a:tblPr firstRow="1" bandRow="1">
                <a:tableStyleId>{5C22544A-7EE6-4342-B048-85BDC9FD1C3A}</a:tableStyleId>
              </a:tblPr>
              <a:tblGrid>
                <a:gridCol w="1935321">
                  <a:extLst>
                    <a:ext uri="{9D8B030D-6E8A-4147-A177-3AD203B41FA5}">
                      <a16:colId xmlns:a16="http://schemas.microsoft.com/office/drawing/2014/main" val="898457455"/>
                    </a:ext>
                  </a:extLst>
                </a:gridCol>
                <a:gridCol w="1935321">
                  <a:extLst>
                    <a:ext uri="{9D8B030D-6E8A-4147-A177-3AD203B41FA5}">
                      <a16:colId xmlns:a16="http://schemas.microsoft.com/office/drawing/2014/main" val="2322634905"/>
                    </a:ext>
                  </a:extLst>
                </a:gridCol>
                <a:gridCol w="1935321">
                  <a:extLst>
                    <a:ext uri="{9D8B030D-6E8A-4147-A177-3AD203B41FA5}">
                      <a16:colId xmlns:a16="http://schemas.microsoft.com/office/drawing/2014/main" val="3458933476"/>
                    </a:ext>
                  </a:extLst>
                </a:gridCol>
                <a:gridCol w="1935321">
                  <a:extLst>
                    <a:ext uri="{9D8B030D-6E8A-4147-A177-3AD203B41FA5}">
                      <a16:colId xmlns:a16="http://schemas.microsoft.com/office/drawing/2014/main" val="3371482377"/>
                    </a:ext>
                  </a:extLst>
                </a:gridCol>
                <a:gridCol w="1935321">
                  <a:extLst>
                    <a:ext uri="{9D8B030D-6E8A-4147-A177-3AD203B41FA5}">
                      <a16:colId xmlns:a16="http://schemas.microsoft.com/office/drawing/2014/main" val="2503721"/>
                    </a:ext>
                  </a:extLst>
                </a:gridCol>
                <a:gridCol w="1935321">
                  <a:extLst>
                    <a:ext uri="{9D8B030D-6E8A-4147-A177-3AD203B41FA5}">
                      <a16:colId xmlns:a16="http://schemas.microsoft.com/office/drawing/2014/main" val="2635234213"/>
                    </a:ext>
                  </a:extLst>
                </a:gridCol>
              </a:tblGrid>
              <a:tr h="845127">
                <a:tc>
                  <a:txBody>
                    <a:bodyPr/>
                    <a:lstStyle/>
                    <a:p>
                      <a:r>
                        <a:rPr lang="en-IN" dirty="0">
                          <a:latin typeface="Times New Roman" panose="02020603050405020304" pitchFamily="18" charset="0"/>
                          <a:cs typeface="Times New Roman" panose="02020603050405020304" pitchFamily="18" charset="0"/>
                        </a:rPr>
                        <a:t>S.No</a:t>
                      </a:r>
                    </a:p>
                  </a:txBody>
                  <a:tcPr anchor="ctr"/>
                </a:tc>
                <a:tc>
                  <a:txBody>
                    <a:bodyPr/>
                    <a:lstStyle/>
                    <a:p>
                      <a:r>
                        <a:rPr lang="en-IN">
                          <a:latin typeface="Times New Roman" panose="02020603050405020304" pitchFamily="18" charset="0"/>
                          <a:cs typeface="Times New Roman" panose="02020603050405020304" pitchFamily="18" charset="0"/>
                        </a:rPr>
                        <a:t>Paper / Title</a:t>
                      </a:r>
                    </a:p>
                  </a:txBody>
                  <a:tcPr anchor="ctr"/>
                </a:tc>
                <a:tc>
                  <a:txBody>
                    <a:bodyPr/>
                    <a:lstStyle/>
                    <a:p>
                      <a:r>
                        <a:rPr lang="en-IN">
                          <a:latin typeface="Times New Roman" panose="02020603050405020304" pitchFamily="18" charset="0"/>
                          <a:cs typeface="Times New Roman" panose="02020603050405020304" pitchFamily="18" charset="0"/>
                        </a:rPr>
                        <a:t>Authors &amp; Year</a:t>
                      </a:r>
                    </a:p>
                  </a:txBody>
                  <a:tcPr anchor="ctr"/>
                </a:tc>
                <a:tc>
                  <a:txBody>
                    <a:bodyPr/>
                    <a:lstStyle/>
                    <a:p>
                      <a:r>
                        <a:rPr lang="en-IN">
                          <a:latin typeface="Times New Roman" panose="02020603050405020304" pitchFamily="18" charset="0"/>
                          <a:cs typeface="Times New Roman" panose="02020603050405020304" pitchFamily="18" charset="0"/>
                        </a:rPr>
                        <a:t>Dataset</a:t>
                      </a:r>
                    </a:p>
                  </a:txBody>
                  <a:tcPr anchor="ctr"/>
                </a:tc>
                <a:tc>
                  <a:txBody>
                    <a:bodyPr/>
                    <a:lstStyle/>
                    <a:p>
                      <a:r>
                        <a:rPr lang="en-IN">
                          <a:latin typeface="Times New Roman" panose="02020603050405020304" pitchFamily="18" charset="0"/>
                          <a:cs typeface="Times New Roman" panose="02020603050405020304" pitchFamily="18" charset="0"/>
                        </a:rPr>
                        <a:t>Models Used</a:t>
                      </a:r>
                    </a:p>
                  </a:txBody>
                  <a:tcPr anchor="ctr"/>
                </a:tc>
                <a:tc>
                  <a:txBody>
                    <a:bodyPr/>
                    <a:lstStyle/>
                    <a:p>
                      <a:r>
                        <a:rPr lang="en-IN">
                          <a:latin typeface="Times New Roman" panose="02020603050405020304" pitchFamily="18" charset="0"/>
                          <a:cs typeface="Times New Roman" panose="02020603050405020304" pitchFamily="18" charset="0"/>
                        </a:rPr>
                        <a:t>Performance Metrics / Remarks</a:t>
                      </a:r>
                    </a:p>
                  </a:txBody>
                  <a:tcPr anchor="ctr"/>
                </a:tc>
                <a:extLst>
                  <a:ext uri="{0D108BD9-81ED-4DB2-BD59-A6C34878D82A}">
                    <a16:rowId xmlns:a16="http://schemas.microsoft.com/office/drawing/2014/main" val="411484746"/>
                  </a:ext>
                </a:extLst>
              </a:tr>
              <a:tr h="1042324">
                <a:tc>
                  <a:txBody>
                    <a:bodyPr/>
                    <a:lstStyle/>
                    <a:p>
                      <a:pPr algn="ctr"/>
                      <a:r>
                        <a:rPr lang="en-IN" sz="1700">
                          <a:latin typeface="Times New Roman" panose="02020603050405020304" pitchFamily="18" charset="0"/>
                          <a:cs typeface="Times New Roman" panose="02020603050405020304" pitchFamily="18" charset="0"/>
                        </a:rPr>
                        <a:t>1</a:t>
                      </a:r>
                    </a:p>
                  </a:txBody>
                  <a:tcPr anchor="ctr"/>
                </a:tc>
                <a:tc>
                  <a:txBody>
                    <a:bodyPr/>
                    <a:lstStyle/>
                    <a:p>
                      <a:r>
                        <a:rPr lang="en-IN" sz="1700" dirty="0">
                          <a:latin typeface="Times New Roman" panose="02020603050405020304" pitchFamily="18" charset="0"/>
                          <a:cs typeface="Times New Roman" panose="02020603050405020304" pitchFamily="18" charset="0"/>
                        </a:rPr>
                        <a:t>AI-based Customer Support Chatbot</a:t>
                      </a:r>
                    </a:p>
                  </a:txBody>
                  <a:tcPr anchor="ctr"/>
                </a:tc>
                <a:tc>
                  <a:txBody>
                    <a:bodyPr/>
                    <a:lstStyle/>
                    <a:p>
                      <a:r>
                        <a:rPr lang="en-IN" sz="1700" dirty="0">
                          <a:latin typeface="Times New Roman" panose="02020603050405020304" pitchFamily="18" charset="0"/>
                          <a:cs typeface="Times New Roman" panose="02020603050405020304" pitchFamily="18" charset="0"/>
                        </a:rPr>
                        <a:t>Smith et al., 2019</a:t>
                      </a:r>
                    </a:p>
                  </a:txBody>
                  <a:tcPr anchor="ctr"/>
                </a:tc>
                <a:tc>
                  <a:txBody>
                    <a:bodyPr/>
                    <a:lstStyle/>
                    <a:p>
                      <a:r>
                        <a:rPr lang="en-IN" sz="1700">
                          <a:latin typeface="Times New Roman" panose="02020603050405020304" pitchFamily="18" charset="0"/>
                          <a:cs typeface="Times New Roman" panose="02020603050405020304" pitchFamily="18" charset="0"/>
                        </a:rPr>
                        <a:t>E-commerce FAQ Dataset</a:t>
                      </a:r>
                    </a:p>
                  </a:txBody>
                  <a:tcPr anchor="ctr"/>
                </a:tc>
                <a:tc>
                  <a:txBody>
                    <a:bodyPr/>
                    <a:lstStyle/>
                    <a:p>
                      <a:r>
                        <a:rPr lang="en-IN" sz="1700">
                          <a:latin typeface="Times New Roman" panose="02020603050405020304" pitchFamily="18" charset="0"/>
                          <a:cs typeface="Times New Roman" panose="02020603050405020304" pitchFamily="18" charset="0"/>
                        </a:rPr>
                        <a:t>NLP + Intent Classification</a:t>
                      </a:r>
                    </a:p>
                  </a:txBody>
                  <a:tcPr anchor="ctr"/>
                </a:tc>
                <a:tc>
                  <a:txBody>
                    <a:bodyPr/>
                    <a:lstStyle/>
                    <a:p>
                      <a:r>
                        <a:rPr lang="en-US" sz="1700">
                          <a:latin typeface="Times New Roman" panose="02020603050405020304" pitchFamily="18" charset="0"/>
                          <a:cs typeface="Times New Roman" panose="02020603050405020304" pitchFamily="18" charset="0"/>
                        </a:rPr>
                        <a:t>Improved response accuracy (85%), reduced human workload</a:t>
                      </a:r>
                    </a:p>
                  </a:txBody>
                  <a:tcPr anchor="ctr"/>
                </a:tc>
                <a:extLst>
                  <a:ext uri="{0D108BD9-81ED-4DB2-BD59-A6C34878D82A}">
                    <a16:rowId xmlns:a16="http://schemas.microsoft.com/office/drawing/2014/main" val="621217167"/>
                  </a:ext>
                </a:extLst>
              </a:tr>
              <a:tr h="1042324">
                <a:tc>
                  <a:txBody>
                    <a:bodyPr/>
                    <a:lstStyle/>
                    <a:p>
                      <a:pPr algn="ctr"/>
                      <a:r>
                        <a:rPr lang="en-IN" sz="1700" dirty="0">
                          <a:latin typeface="Times New Roman" panose="02020603050405020304" pitchFamily="18" charset="0"/>
                          <a:cs typeface="Times New Roman" panose="02020603050405020304" pitchFamily="18" charset="0"/>
                        </a:rPr>
                        <a:t>2</a:t>
                      </a:r>
                    </a:p>
                  </a:txBody>
                  <a:tcPr anchor="ctr"/>
                </a:tc>
                <a:tc>
                  <a:txBody>
                    <a:bodyPr/>
                    <a:lstStyle/>
                    <a:p>
                      <a:r>
                        <a:rPr lang="en-IN" sz="1700" dirty="0">
                          <a:latin typeface="Times New Roman" panose="02020603050405020304" pitchFamily="18" charset="0"/>
                          <a:cs typeface="Times New Roman" panose="02020603050405020304" pitchFamily="18" charset="0"/>
                        </a:rPr>
                        <a:t>Conversational Agent using NLP</a:t>
                      </a:r>
                    </a:p>
                  </a:txBody>
                  <a:tcPr anchor="ctr"/>
                </a:tc>
                <a:tc>
                  <a:txBody>
                    <a:bodyPr/>
                    <a:lstStyle/>
                    <a:p>
                      <a:r>
                        <a:rPr lang="en-IN" sz="1700">
                          <a:latin typeface="Times New Roman" panose="02020603050405020304" pitchFamily="18" charset="0"/>
                          <a:cs typeface="Times New Roman" panose="02020603050405020304" pitchFamily="18" charset="0"/>
                        </a:rPr>
                        <a:t>Kumar &amp; Lee, 2020</a:t>
                      </a:r>
                    </a:p>
                  </a:txBody>
                  <a:tcPr anchor="ctr"/>
                </a:tc>
                <a:tc>
                  <a:txBody>
                    <a:bodyPr/>
                    <a:lstStyle/>
                    <a:p>
                      <a:r>
                        <a:rPr lang="en-IN" sz="1700">
                          <a:latin typeface="Times New Roman" panose="02020603050405020304" pitchFamily="18" charset="0"/>
                          <a:cs typeface="Times New Roman" panose="02020603050405020304" pitchFamily="18" charset="0"/>
                        </a:rPr>
                        <a:t>Retail Customer Query Dataset</a:t>
                      </a:r>
                    </a:p>
                  </a:txBody>
                  <a:tcPr anchor="ctr"/>
                </a:tc>
                <a:tc>
                  <a:txBody>
                    <a:bodyPr/>
                    <a:lstStyle/>
                    <a:p>
                      <a:r>
                        <a:rPr lang="en-IN" sz="1700">
                          <a:latin typeface="Times New Roman" panose="02020603050405020304" pitchFamily="18" charset="0"/>
                          <a:cs typeface="Times New Roman" panose="02020603050405020304" pitchFamily="18" charset="0"/>
                        </a:rPr>
                        <a:t>LSTM, Text Classification</a:t>
                      </a:r>
                    </a:p>
                  </a:txBody>
                  <a:tcPr anchor="ctr"/>
                </a:tc>
                <a:tc>
                  <a:txBody>
                    <a:bodyPr/>
                    <a:lstStyle/>
                    <a:p>
                      <a:r>
                        <a:rPr lang="en-IN" sz="1700">
                          <a:latin typeface="Times New Roman" panose="02020603050405020304" pitchFamily="18" charset="0"/>
                          <a:cs typeface="Times New Roman" panose="02020603050405020304" pitchFamily="18" charset="0"/>
                        </a:rPr>
                        <a:t>Faster query resolution, improved user satisfaction</a:t>
                      </a:r>
                    </a:p>
                  </a:txBody>
                  <a:tcPr anchor="ctr"/>
                </a:tc>
                <a:extLst>
                  <a:ext uri="{0D108BD9-81ED-4DB2-BD59-A6C34878D82A}">
                    <a16:rowId xmlns:a16="http://schemas.microsoft.com/office/drawing/2014/main" val="4149903035"/>
                  </a:ext>
                </a:extLst>
              </a:tr>
              <a:tr h="802871">
                <a:tc>
                  <a:txBody>
                    <a:bodyPr/>
                    <a:lstStyle/>
                    <a:p>
                      <a:pPr algn="ctr"/>
                      <a:r>
                        <a:rPr lang="en-IN" sz="1700">
                          <a:latin typeface="Times New Roman" panose="02020603050405020304" pitchFamily="18" charset="0"/>
                          <a:cs typeface="Times New Roman" panose="02020603050405020304" pitchFamily="18" charset="0"/>
                        </a:rPr>
                        <a:t>3</a:t>
                      </a:r>
                    </a:p>
                  </a:txBody>
                  <a:tcPr anchor="ctr"/>
                </a:tc>
                <a:tc>
                  <a:txBody>
                    <a:bodyPr/>
                    <a:lstStyle/>
                    <a:p>
                      <a:r>
                        <a:rPr lang="en-IN" sz="1700">
                          <a:latin typeface="Times New Roman" panose="02020603050405020304" pitchFamily="18" charset="0"/>
                          <a:cs typeface="Times New Roman" panose="02020603050405020304" pitchFamily="18" charset="0"/>
                        </a:rPr>
                        <a:t>Voice-enabled Virtual Assistant</a:t>
                      </a:r>
                    </a:p>
                  </a:txBody>
                  <a:tcPr anchor="ctr"/>
                </a:tc>
                <a:tc>
                  <a:txBody>
                    <a:bodyPr/>
                    <a:lstStyle/>
                    <a:p>
                      <a:r>
                        <a:rPr lang="en-IN" sz="1700">
                          <a:latin typeface="Times New Roman" panose="02020603050405020304" pitchFamily="18" charset="0"/>
                          <a:cs typeface="Times New Roman" panose="02020603050405020304" pitchFamily="18" charset="0"/>
                        </a:rPr>
                        <a:t>Chen et al., 2021</a:t>
                      </a:r>
                    </a:p>
                  </a:txBody>
                  <a:tcPr anchor="ctr"/>
                </a:tc>
                <a:tc>
                  <a:txBody>
                    <a:bodyPr/>
                    <a:lstStyle/>
                    <a:p>
                      <a:r>
                        <a:rPr lang="en-IN" sz="1700">
                          <a:latin typeface="Times New Roman" panose="02020603050405020304" pitchFamily="18" charset="0"/>
                          <a:cs typeface="Times New Roman" panose="02020603050405020304" pitchFamily="18" charset="0"/>
                        </a:rPr>
                        <a:t>Speech Command Dataset</a:t>
                      </a:r>
                    </a:p>
                  </a:txBody>
                  <a:tcPr anchor="ctr"/>
                </a:tc>
                <a:tc>
                  <a:txBody>
                    <a:bodyPr/>
                    <a:lstStyle/>
                    <a:p>
                      <a:r>
                        <a:rPr lang="en-IN" sz="1700">
                          <a:latin typeface="Times New Roman" panose="02020603050405020304" pitchFamily="18" charset="0"/>
                          <a:cs typeface="Times New Roman" panose="02020603050405020304" pitchFamily="18" charset="0"/>
                        </a:rPr>
                        <a:t>Speech Recognition + NLU</a:t>
                      </a:r>
                    </a:p>
                  </a:txBody>
                  <a:tcPr anchor="ctr"/>
                </a:tc>
                <a:tc>
                  <a:txBody>
                    <a:bodyPr/>
                    <a:lstStyle/>
                    <a:p>
                      <a:r>
                        <a:rPr lang="en-US" sz="1700">
                          <a:latin typeface="Times New Roman" panose="02020603050405020304" pitchFamily="18" charset="0"/>
                          <a:cs typeface="Times New Roman" panose="02020603050405020304" pitchFamily="18" charset="0"/>
                        </a:rPr>
                        <a:t>High speech recognition accuracy (90%)</a:t>
                      </a:r>
                    </a:p>
                  </a:txBody>
                  <a:tcPr anchor="ctr"/>
                </a:tc>
                <a:extLst>
                  <a:ext uri="{0D108BD9-81ED-4DB2-BD59-A6C34878D82A}">
                    <a16:rowId xmlns:a16="http://schemas.microsoft.com/office/drawing/2014/main" val="1937195608"/>
                  </a:ext>
                </a:extLst>
              </a:tr>
              <a:tr h="1042324">
                <a:tc>
                  <a:txBody>
                    <a:bodyPr/>
                    <a:lstStyle/>
                    <a:p>
                      <a:pPr algn="ctr"/>
                      <a:r>
                        <a:rPr lang="en-IN" sz="1700">
                          <a:latin typeface="Times New Roman" panose="02020603050405020304" pitchFamily="18" charset="0"/>
                          <a:cs typeface="Times New Roman" panose="02020603050405020304" pitchFamily="18" charset="0"/>
                        </a:rPr>
                        <a:t>4</a:t>
                      </a:r>
                    </a:p>
                  </a:txBody>
                  <a:tcPr anchor="ctr"/>
                </a:tc>
                <a:tc>
                  <a:txBody>
                    <a:bodyPr/>
                    <a:lstStyle/>
                    <a:p>
                      <a:r>
                        <a:rPr lang="en-IN" sz="1700" dirty="0">
                          <a:latin typeface="Times New Roman" panose="02020603050405020304" pitchFamily="18" charset="0"/>
                          <a:cs typeface="Times New Roman" panose="02020603050405020304" pitchFamily="18" charset="0"/>
                        </a:rPr>
                        <a:t>GPT-based Conversational Model</a:t>
                      </a:r>
                    </a:p>
                  </a:txBody>
                  <a:tcPr anchor="ctr"/>
                </a:tc>
                <a:tc>
                  <a:txBody>
                    <a:bodyPr/>
                    <a:lstStyle/>
                    <a:p>
                      <a:r>
                        <a:rPr lang="en-IN" sz="1700">
                          <a:latin typeface="Times New Roman" panose="02020603050405020304" pitchFamily="18" charset="0"/>
                          <a:cs typeface="Times New Roman" panose="02020603050405020304" pitchFamily="18" charset="0"/>
                        </a:rPr>
                        <a:t>Brown et al., 2022</a:t>
                      </a:r>
                    </a:p>
                  </a:txBody>
                  <a:tcPr anchor="ctr"/>
                </a:tc>
                <a:tc>
                  <a:txBody>
                    <a:bodyPr/>
                    <a:lstStyle/>
                    <a:p>
                      <a:r>
                        <a:rPr lang="en-IN" sz="1700">
                          <a:latin typeface="Times New Roman" panose="02020603050405020304" pitchFamily="18" charset="0"/>
                          <a:cs typeface="Times New Roman" panose="02020603050405020304" pitchFamily="18" charset="0"/>
                        </a:rPr>
                        <a:t>Large-scale Text Corpus</a:t>
                      </a:r>
                    </a:p>
                  </a:txBody>
                  <a:tcPr anchor="ctr"/>
                </a:tc>
                <a:tc>
                  <a:txBody>
                    <a:bodyPr/>
                    <a:lstStyle/>
                    <a:p>
                      <a:r>
                        <a:rPr lang="en-IN" sz="1700" dirty="0">
                          <a:latin typeface="Times New Roman" panose="02020603050405020304" pitchFamily="18" charset="0"/>
                          <a:cs typeface="Times New Roman" panose="02020603050405020304" pitchFamily="18" charset="0"/>
                        </a:rPr>
                        <a:t>Transformer (GPT Architecture)</a:t>
                      </a:r>
                    </a:p>
                  </a:txBody>
                  <a:tcPr anchor="ctr"/>
                </a:tc>
                <a:tc>
                  <a:txBody>
                    <a:bodyPr/>
                    <a:lstStyle/>
                    <a:p>
                      <a:r>
                        <a:rPr lang="en-US" sz="1700">
                          <a:latin typeface="Times New Roman" panose="02020603050405020304" pitchFamily="18" charset="0"/>
                          <a:cs typeface="Times New Roman" panose="02020603050405020304" pitchFamily="18" charset="0"/>
                        </a:rPr>
                        <a:t>Human-like responses, strong contextual understanding</a:t>
                      </a:r>
                    </a:p>
                  </a:txBody>
                  <a:tcPr anchor="ctr"/>
                </a:tc>
                <a:extLst>
                  <a:ext uri="{0D108BD9-81ED-4DB2-BD59-A6C34878D82A}">
                    <a16:rowId xmlns:a16="http://schemas.microsoft.com/office/drawing/2014/main" val="983233868"/>
                  </a:ext>
                </a:extLst>
              </a:tr>
              <a:tr h="802871">
                <a:tc>
                  <a:txBody>
                    <a:bodyPr/>
                    <a:lstStyle/>
                    <a:p>
                      <a:pPr algn="ctr"/>
                      <a:r>
                        <a:rPr lang="en-IN" sz="1700" dirty="0">
                          <a:latin typeface="Times New Roman" panose="02020603050405020304" pitchFamily="18" charset="0"/>
                          <a:cs typeface="Times New Roman" panose="02020603050405020304" pitchFamily="18" charset="0"/>
                        </a:rPr>
                        <a:t>5</a:t>
                      </a:r>
                    </a:p>
                  </a:txBody>
                  <a:tcPr anchor="ctr"/>
                </a:tc>
                <a:tc>
                  <a:txBody>
                    <a:bodyPr/>
                    <a:lstStyle/>
                    <a:p>
                      <a:r>
                        <a:rPr lang="en-IN" sz="1700">
                          <a:latin typeface="Times New Roman" panose="02020603050405020304" pitchFamily="18" charset="0"/>
                          <a:cs typeface="Times New Roman" panose="02020603050405020304" pitchFamily="18" charset="0"/>
                        </a:rPr>
                        <a:t>E-commerce Chatbot System</a:t>
                      </a:r>
                    </a:p>
                  </a:txBody>
                  <a:tcPr anchor="ctr"/>
                </a:tc>
                <a:tc>
                  <a:txBody>
                    <a:bodyPr/>
                    <a:lstStyle/>
                    <a:p>
                      <a:r>
                        <a:rPr lang="en-IN" sz="1700">
                          <a:latin typeface="Times New Roman" panose="02020603050405020304" pitchFamily="18" charset="0"/>
                          <a:cs typeface="Times New Roman" panose="02020603050405020304" pitchFamily="18" charset="0"/>
                        </a:rPr>
                        <a:t>Patel &amp; Sharma, 2023</a:t>
                      </a:r>
                    </a:p>
                  </a:txBody>
                  <a:tcPr anchor="ctr"/>
                </a:tc>
                <a:tc>
                  <a:txBody>
                    <a:bodyPr/>
                    <a:lstStyle/>
                    <a:p>
                      <a:r>
                        <a:rPr lang="en-IN" sz="1700">
                          <a:latin typeface="Times New Roman" panose="02020603050405020304" pitchFamily="18" charset="0"/>
                          <a:cs typeface="Times New Roman" panose="02020603050405020304" pitchFamily="18" charset="0"/>
                        </a:rPr>
                        <a:t>Online Shopping Dataset</a:t>
                      </a:r>
                    </a:p>
                  </a:txBody>
                  <a:tcPr anchor="ctr"/>
                </a:tc>
                <a:tc>
                  <a:txBody>
                    <a:bodyPr/>
                    <a:lstStyle/>
                    <a:p>
                      <a:r>
                        <a:rPr lang="en-IN" sz="1700">
                          <a:latin typeface="Times New Roman" panose="02020603050405020304" pitchFamily="18" charset="0"/>
                          <a:cs typeface="Times New Roman" panose="02020603050405020304" pitchFamily="18" charset="0"/>
                        </a:rPr>
                        <a:t>Rule-based + ML Hybrid Model</a:t>
                      </a:r>
                    </a:p>
                  </a:txBody>
                  <a:tcPr anchor="ctr"/>
                </a:tc>
                <a:tc>
                  <a:txBody>
                    <a:bodyPr/>
                    <a:lstStyle/>
                    <a:p>
                      <a:r>
                        <a:rPr lang="en-US" sz="1700" dirty="0">
                          <a:latin typeface="Times New Roman" panose="02020603050405020304" pitchFamily="18" charset="0"/>
                          <a:cs typeface="Times New Roman" panose="02020603050405020304" pitchFamily="18" charset="0"/>
                        </a:rPr>
                        <a:t>Limited contextual handling, mostly text-based</a:t>
                      </a:r>
                    </a:p>
                  </a:txBody>
                  <a:tcPr anchor="ctr"/>
                </a:tc>
                <a:extLst>
                  <a:ext uri="{0D108BD9-81ED-4DB2-BD59-A6C34878D82A}">
                    <a16:rowId xmlns:a16="http://schemas.microsoft.com/office/drawing/2014/main" val="3510139230"/>
                  </a:ext>
                </a:extLst>
              </a:tr>
            </a:tbl>
          </a:graphicData>
        </a:graphic>
      </p:graphicFrame>
    </p:spTree>
    <p:extLst>
      <p:ext uri="{BB962C8B-B14F-4D97-AF65-F5344CB8AC3E}">
        <p14:creationId xmlns:p14="http://schemas.microsoft.com/office/powerpoint/2010/main" val="974806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0022BB-4FBE-FBCD-5E28-BCC3FA4EBEE7}"/>
              </a:ext>
            </a:extLst>
          </p:cNvPr>
          <p:cNvSpPr txBox="1"/>
          <p:nvPr/>
        </p:nvSpPr>
        <p:spPr>
          <a:xfrm>
            <a:off x="325927" y="26787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5. </a:t>
            </a:r>
            <a:r>
              <a:rPr lang="en-US" sz="3200" b="1" dirty="0">
                <a:latin typeface="Times New Roman" panose="02020603050405020304" pitchFamily="18" charset="0"/>
                <a:cs typeface="Times New Roman" panose="02020603050405020304" pitchFamily="18" charset="0"/>
              </a:rPr>
              <a:t>Dataset Description</a:t>
            </a:r>
            <a:r>
              <a:rPr lang="en-IN" sz="3200" b="1" dirty="0">
                <a:latin typeface="Times New Roman" panose="02020603050405020304" pitchFamily="18" charset="0"/>
                <a:cs typeface="Times New Roman" panose="02020603050405020304" pitchFamily="18" charset="0"/>
              </a:rPr>
              <a:t> </a:t>
            </a:r>
          </a:p>
        </p:txBody>
      </p:sp>
      <p:sp>
        <p:nvSpPr>
          <p:cNvPr id="8" name="Oval 7">
            <a:extLst>
              <a:ext uri="{FF2B5EF4-FFF2-40B4-BE49-F238E27FC236}">
                <a16:creationId xmlns:a16="http://schemas.microsoft.com/office/drawing/2014/main" id="{A193575E-8836-451E-1864-1A9E614EE95F}"/>
              </a:ext>
            </a:extLst>
          </p:cNvPr>
          <p:cNvSpPr/>
          <p:nvPr/>
        </p:nvSpPr>
        <p:spPr>
          <a:xfrm>
            <a:off x="325927" y="991815"/>
            <a:ext cx="8551855" cy="522198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lvl="1"/>
            <a:r>
              <a:rPr lang="en-US" b="1" dirty="0"/>
              <a:t> Book Dataset Overview</a:t>
            </a:r>
          </a:p>
          <a:p>
            <a:pPr lvl="2">
              <a:buFont typeface="Arial" panose="020B0604020202020204" pitchFamily="34" charset="0"/>
              <a:buChar char="•"/>
            </a:pPr>
            <a:r>
              <a:rPr lang="en-US" dirty="0"/>
              <a:t> Contains approximately </a:t>
            </a:r>
            <a:r>
              <a:rPr lang="en-US" b="1" dirty="0"/>
              <a:t>28,000 book records</a:t>
            </a:r>
            <a:endParaRPr lang="en-US" dirty="0"/>
          </a:p>
          <a:p>
            <a:pPr lvl="2">
              <a:buFont typeface="Arial" panose="020B0604020202020204" pitchFamily="34" charset="0"/>
              <a:buChar char="•"/>
            </a:pPr>
            <a:r>
              <a:rPr lang="en-US" dirty="0"/>
              <a:t> Stored in </a:t>
            </a:r>
            <a:r>
              <a:rPr lang="en-US" b="1" dirty="0"/>
              <a:t>MongoDB (NoSQL Database)</a:t>
            </a:r>
            <a:endParaRPr lang="en-US" dirty="0"/>
          </a:p>
          <a:p>
            <a:pPr lvl="2">
              <a:buFont typeface="Arial" panose="020B0604020202020204" pitchFamily="34" charset="0"/>
              <a:buChar char="•"/>
            </a:pPr>
            <a:r>
              <a:rPr lang="en-US" dirty="0"/>
              <a:t> Supports book display and search functionality</a:t>
            </a:r>
          </a:p>
          <a:p>
            <a:pPr lvl="1"/>
            <a:r>
              <a:rPr lang="en-US" b="1" dirty="0"/>
              <a:t>Key Attributes in Dataset:</a:t>
            </a:r>
          </a:p>
          <a:p>
            <a:pPr lvl="2">
              <a:buFont typeface="Arial" panose="020B0604020202020204" pitchFamily="34" charset="0"/>
              <a:buChar char="•"/>
            </a:pPr>
            <a:r>
              <a:rPr lang="en-US" dirty="0"/>
              <a:t> ISBN – Unique book identifier</a:t>
            </a:r>
          </a:p>
          <a:p>
            <a:pPr lvl="2">
              <a:buFont typeface="Arial" panose="020B0604020202020204" pitchFamily="34" charset="0"/>
              <a:buChar char="•"/>
            </a:pPr>
            <a:r>
              <a:rPr lang="en-US" dirty="0"/>
              <a:t> Book Title</a:t>
            </a:r>
          </a:p>
          <a:p>
            <a:pPr lvl="2">
              <a:buFont typeface="Arial" panose="020B0604020202020204" pitchFamily="34" charset="0"/>
              <a:buChar char="•"/>
            </a:pPr>
            <a:r>
              <a:rPr lang="en-US" dirty="0"/>
              <a:t> Author Name</a:t>
            </a:r>
          </a:p>
          <a:p>
            <a:pPr lvl="2">
              <a:buFont typeface="Arial" panose="020B0604020202020204" pitchFamily="34" charset="0"/>
              <a:buChar char="•"/>
            </a:pPr>
            <a:r>
              <a:rPr lang="en-US" dirty="0"/>
              <a:t> Year of Publication</a:t>
            </a:r>
          </a:p>
          <a:p>
            <a:pPr lvl="2">
              <a:buFont typeface="Arial" panose="020B0604020202020204" pitchFamily="34" charset="0"/>
              <a:buChar char="•"/>
            </a:pPr>
            <a:r>
              <a:rPr lang="en-US" dirty="0"/>
              <a:t> Publisher</a:t>
            </a:r>
          </a:p>
          <a:p>
            <a:pPr lvl="2">
              <a:buFont typeface="Arial" panose="020B0604020202020204" pitchFamily="34" charset="0"/>
              <a:buChar char="•"/>
            </a:pPr>
            <a:r>
              <a:rPr lang="en-US" dirty="0"/>
              <a:t> Book Cover Image URLs (Small, Medium, Large)</a:t>
            </a:r>
          </a:p>
          <a:p>
            <a:pPr lvl="1"/>
            <a:r>
              <a:rPr lang="en-US" b="1" dirty="0"/>
              <a:t>Purpose of Dataset:</a:t>
            </a:r>
          </a:p>
          <a:p>
            <a:pPr lvl="2">
              <a:buFont typeface="Arial" panose="020B0604020202020204" pitchFamily="34" charset="0"/>
              <a:buChar char="•"/>
            </a:pPr>
            <a:r>
              <a:rPr lang="en-US" dirty="0"/>
              <a:t> Enables book browsing &amp; search (Title/Author)</a:t>
            </a:r>
          </a:p>
          <a:p>
            <a:pPr lvl="2">
              <a:buFont typeface="Arial" panose="020B0604020202020204" pitchFamily="34" charset="0"/>
              <a:buChar char="•"/>
            </a:pPr>
            <a:r>
              <a:rPr lang="en-US" dirty="0"/>
              <a:t> Provides data to AI chatbot for answering queries</a:t>
            </a:r>
          </a:p>
          <a:p>
            <a:pPr lvl="2">
              <a:buFont typeface="Arial" panose="020B0604020202020204" pitchFamily="34" charset="0"/>
              <a:buChar char="•"/>
            </a:pPr>
            <a:r>
              <a:rPr lang="en-US" dirty="0"/>
              <a:t> Supports cart and purchasing functionality</a:t>
            </a:r>
          </a:p>
        </p:txBody>
      </p:sp>
    </p:spTree>
    <p:extLst>
      <p:ext uri="{BB962C8B-B14F-4D97-AF65-F5344CB8AC3E}">
        <p14:creationId xmlns:p14="http://schemas.microsoft.com/office/powerpoint/2010/main" val="855656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E65449-AE43-D7AC-A062-39AB771D202A}"/>
              </a:ext>
            </a:extLst>
          </p:cNvPr>
          <p:cNvSpPr txBox="1"/>
          <p:nvPr/>
        </p:nvSpPr>
        <p:spPr>
          <a:xfrm>
            <a:off x="325927" y="26787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6.Methodology</a:t>
            </a:r>
          </a:p>
        </p:txBody>
      </p:sp>
      <p:sp>
        <p:nvSpPr>
          <p:cNvPr id="5" name="TextBox 4">
            <a:extLst>
              <a:ext uri="{FF2B5EF4-FFF2-40B4-BE49-F238E27FC236}">
                <a16:creationId xmlns:a16="http://schemas.microsoft.com/office/drawing/2014/main" id="{FA8B6974-CFC5-A2AD-24D3-A59D98832B5E}"/>
              </a:ext>
            </a:extLst>
          </p:cNvPr>
          <p:cNvSpPr txBox="1"/>
          <p:nvPr/>
        </p:nvSpPr>
        <p:spPr>
          <a:xfrm>
            <a:off x="325927" y="852651"/>
            <a:ext cx="11620908" cy="4801314"/>
          </a:xfrm>
          <a:prstGeom prst="rect">
            <a:avLst/>
          </a:prstGeom>
          <a:noFill/>
        </p:spPr>
        <p:txBody>
          <a:bodyPr wrap="square">
            <a:spAutoFit/>
          </a:bodyPr>
          <a:lstStyle/>
          <a:p>
            <a:r>
              <a:rPr lang="en-US" dirty="0"/>
              <a:t>The proposed AI-powered online bookstore system is divided into multiple functional modules, each responsible for handling specific tasks within the overall architecture. The implementation status of each module is described below:</a:t>
            </a:r>
          </a:p>
          <a:p>
            <a:r>
              <a:rPr lang="en-US" b="1" dirty="0"/>
              <a:t>1. User Interface Module</a:t>
            </a:r>
            <a:br>
              <a:rPr lang="en-US" dirty="0"/>
            </a:br>
            <a:r>
              <a:rPr lang="en-US" dirty="0"/>
              <a:t>The User Interface module is developed using HTML, CSS, and JavaScript. It provides an interactive web-based platform where users can browse books, search for titles or authors, manage their shopping cart, and interact with the AI chatbot through text or voice input. This module has been successfully completed.</a:t>
            </a:r>
          </a:p>
          <a:p>
            <a:r>
              <a:rPr lang="en-US" b="1" dirty="0"/>
              <a:t>2. Chatbot Interaction Module</a:t>
            </a:r>
            <a:br>
              <a:rPr lang="en-US" dirty="0"/>
            </a:br>
            <a:r>
              <a:rPr lang="en-US" dirty="0"/>
              <a:t>This module manages user queries submitted through text or voice. It integrates with AI APIs such as OpenAI/</a:t>
            </a:r>
            <a:r>
              <a:rPr lang="en-US" dirty="0" err="1"/>
              <a:t>OpenRouter</a:t>
            </a:r>
            <a:r>
              <a:rPr lang="en-US" dirty="0"/>
              <a:t> to generate intelligent and context-aware responses. The chatbot ensures real-time assistance to users. This module has been completed.</a:t>
            </a:r>
          </a:p>
          <a:p>
            <a:r>
              <a:rPr lang="en-US" b="1" dirty="0"/>
              <a:t>3. Speech Processing Module</a:t>
            </a:r>
            <a:br>
              <a:rPr lang="en-US" dirty="0"/>
            </a:br>
            <a:r>
              <a:rPr lang="en-US" dirty="0"/>
              <a:t>The Speech Processing module enables voice-based interaction. It uses a Speech Recognition API to convert spoken input into text and a Speech Synthesis API to convert chatbot responses into voice output. This module has been implemented successfully.</a:t>
            </a:r>
          </a:p>
          <a:p>
            <a:r>
              <a:rPr lang="en-US" b="1" dirty="0"/>
              <a:t>4. Backend Server Module</a:t>
            </a:r>
            <a:br>
              <a:rPr lang="en-US" dirty="0"/>
            </a:br>
            <a:r>
              <a:rPr lang="en-US" dirty="0"/>
              <a:t>The backend server is developed using the Flask framework in Python. It handles request routing, user authentication, database communication, AI API integration, and response management. This module has been completed.</a:t>
            </a:r>
          </a:p>
        </p:txBody>
      </p:sp>
    </p:spTree>
    <p:extLst>
      <p:ext uri="{BB962C8B-B14F-4D97-AF65-F5344CB8AC3E}">
        <p14:creationId xmlns:p14="http://schemas.microsoft.com/office/powerpoint/2010/main" val="896175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4E2DAC-0E25-A4A5-918B-08E2CF3E98BF}"/>
              </a:ext>
            </a:extLst>
          </p:cNvPr>
          <p:cNvSpPr txBox="1"/>
          <p:nvPr/>
        </p:nvSpPr>
        <p:spPr>
          <a:xfrm>
            <a:off x="259080" y="411480"/>
            <a:ext cx="11608242" cy="3416320"/>
          </a:xfrm>
          <a:prstGeom prst="rect">
            <a:avLst/>
          </a:prstGeom>
          <a:noFill/>
        </p:spPr>
        <p:txBody>
          <a:bodyPr wrap="square" rtlCol="0">
            <a:spAutoFit/>
          </a:bodyPr>
          <a:lstStyle/>
          <a:p>
            <a:r>
              <a:rPr lang="en-US" b="1" dirty="0"/>
              <a:t>5. Database Module</a:t>
            </a:r>
            <a:br>
              <a:rPr lang="en-US" dirty="0"/>
            </a:br>
            <a:r>
              <a:rPr lang="en-US" dirty="0"/>
              <a:t>The system uses MongoDB as the database management system. It stores over 28,000 book records, including ISBN, book title, author name, year of publication, publisher, and image URLs. The database module has been fully implemented.</a:t>
            </a:r>
            <a:endParaRPr lang="en-US" b="1" dirty="0"/>
          </a:p>
          <a:p>
            <a:r>
              <a:rPr lang="en-US" b="1" dirty="0"/>
              <a:t>6. AI Integration Module</a:t>
            </a:r>
            <a:br>
              <a:rPr lang="en-US" dirty="0"/>
            </a:br>
            <a:r>
              <a:rPr lang="en-US" dirty="0"/>
              <a:t>This module connects the backend server with AI services for natural language processing and response generation. It ensures intelligent interaction between the system and users. This module has been successfully integrated.</a:t>
            </a:r>
          </a:p>
          <a:p>
            <a:r>
              <a:rPr lang="en-US" b="1" dirty="0"/>
              <a:t>7. Search and Recommendation Module</a:t>
            </a:r>
            <a:br>
              <a:rPr lang="en-US" dirty="0"/>
            </a:br>
            <a:r>
              <a:rPr lang="en-US" dirty="0"/>
              <a:t>The search module enables users to search for books based on title or author and retrieves relevant results from the database efficiently. This module has been completed.</a:t>
            </a:r>
          </a:p>
          <a:p>
            <a:r>
              <a:rPr lang="en-US" b="1" dirty="0"/>
              <a:t>8. REST API Communication Module</a:t>
            </a:r>
            <a:br>
              <a:rPr lang="en-US" dirty="0"/>
            </a:br>
            <a:r>
              <a:rPr lang="en-US" dirty="0"/>
              <a:t>The REST API module ensures seamless communication between the frontend and backend components using RESTful architecture principles. This module has been completed.</a:t>
            </a:r>
          </a:p>
        </p:txBody>
      </p:sp>
    </p:spTree>
    <p:extLst>
      <p:ext uri="{BB962C8B-B14F-4D97-AF65-F5344CB8AC3E}">
        <p14:creationId xmlns:p14="http://schemas.microsoft.com/office/powerpoint/2010/main" val="2454901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EECAAD8-848B-592C-AC51-47DC133BEC84}"/>
              </a:ext>
            </a:extLst>
          </p:cNvPr>
          <p:cNvSpPr/>
          <p:nvPr/>
        </p:nvSpPr>
        <p:spPr>
          <a:xfrm>
            <a:off x="325927" y="1435261"/>
            <a:ext cx="6167470" cy="377334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dirty="0">
                <a:solidFill>
                  <a:srgbClr val="00B050"/>
                </a:solidFill>
              </a:rPr>
              <a:t>Strengths</a:t>
            </a:r>
          </a:p>
          <a:p>
            <a:r>
              <a:rPr lang="en-US" dirty="0"/>
              <a:t>• </a:t>
            </a:r>
            <a:r>
              <a:rPr lang="en-US" b="1" dirty="0"/>
              <a:t>Automated Customer Support:</a:t>
            </a:r>
            <a:r>
              <a:rPr lang="en-US" dirty="0"/>
              <a:t> The system provides automated AI-based responses, reducing dependency on human support staff.</a:t>
            </a:r>
            <a:br>
              <a:rPr lang="en-US" dirty="0"/>
            </a:br>
            <a:r>
              <a:rPr lang="en-US" dirty="0"/>
              <a:t>• </a:t>
            </a:r>
            <a:r>
              <a:rPr lang="en-US" b="1" dirty="0"/>
              <a:t>Voice and Chat Interaction:</a:t>
            </a:r>
            <a:r>
              <a:rPr lang="en-US" dirty="0"/>
              <a:t> Supports both text and voice-based communication, improving accessibility and user experience.</a:t>
            </a:r>
            <a:br>
              <a:rPr lang="en-US" dirty="0"/>
            </a:br>
            <a:r>
              <a:rPr lang="en-US" dirty="0"/>
              <a:t>• </a:t>
            </a:r>
            <a:r>
              <a:rPr lang="en-US" b="1" dirty="0"/>
              <a:t>Scalable Architecture:</a:t>
            </a:r>
            <a:r>
              <a:rPr lang="en-US" dirty="0"/>
              <a:t> Built using a scalable client–server architecture capable of handling multiple concurrent users.</a:t>
            </a:r>
            <a:br>
              <a:rPr lang="en-US" dirty="0"/>
            </a:br>
            <a:r>
              <a:rPr lang="en-US" dirty="0"/>
              <a:t>• </a:t>
            </a:r>
            <a:r>
              <a:rPr lang="en-US" b="1" dirty="0"/>
              <a:t>Large Book Dataset:</a:t>
            </a:r>
            <a:r>
              <a:rPr lang="en-US" dirty="0"/>
              <a:t> Contains over 28,000 book records, enabling efficient search and information retrieval.</a:t>
            </a:r>
          </a:p>
        </p:txBody>
      </p:sp>
      <p:sp>
        <p:nvSpPr>
          <p:cNvPr id="5" name="TextBox 4">
            <a:extLst>
              <a:ext uri="{FF2B5EF4-FFF2-40B4-BE49-F238E27FC236}">
                <a16:creationId xmlns:a16="http://schemas.microsoft.com/office/drawing/2014/main" id="{FB010B21-A375-C8C8-8DF5-556F315DD4D4}"/>
              </a:ext>
            </a:extLst>
          </p:cNvPr>
          <p:cNvSpPr txBox="1"/>
          <p:nvPr/>
        </p:nvSpPr>
        <p:spPr>
          <a:xfrm>
            <a:off x="325927" y="26787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7. Swot Analysis </a:t>
            </a:r>
          </a:p>
        </p:txBody>
      </p:sp>
      <p:sp>
        <p:nvSpPr>
          <p:cNvPr id="6" name="Rectangle: Rounded Corners 5">
            <a:extLst>
              <a:ext uri="{FF2B5EF4-FFF2-40B4-BE49-F238E27FC236}">
                <a16:creationId xmlns:a16="http://schemas.microsoft.com/office/drawing/2014/main" id="{844C3F10-930D-9970-2A6D-BAE1023A61F1}"/>
              </a:ext>
            </a:extLst>
          </p:cNvPr>
          <p:cNvSpPr/>
          <p:nvPr/>
        </p:nvSpPr>
        <p:spPr>
          <a:xfrm>
            <a:off x="6756695" y="3098426"/>
            <a:ext cx="5248274" cy="34473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b="1" dirty="0">
                <a:solidFill>
                  <a:srgbClr val="FF0000"/>
                </a:solidFill>
              </a:rPr>
              <a:t>Weaknesses</a:t>
            </a:r>
          </a:p>
          <a:p>
            <a:r>
              <a:rPr lang="en-IN" dirty="0"/>
              <a:t>• </a:t>
            </a:r>
            <a:r>
              <a:rPr lang="en-IN" b="1" dirty="0"/>
              <a:t>Dependence on External AI APIs:</a:t>
            </a:r>
            <a:r>
              <a:rPr lang="en-IN" dirty="0"/>
              <a:t> The chatbot relies on third-party AI services, creating external dependency.</a:t>
            </a:r>
            <a:br>
              <a:rPr lang="en-IN" dirty="0"/>
            </a:br>
            <a:r>
              <a:rPr lang="en-IN" dirty="0"/>
              <a:t>• </a:t>
            </a:r>
            <a:r>
              <a:rPr lang="en-IN" b="1" dirty="0"/>
              <a:t>Internet Dependency:</a:t>
            </a:r>
            <a:r>
              <a:rPr lang="en-IN" dirty="0"/>
              <a:t> Continuous internet connection is required for AI and database operations.</a:t>
            </a:r>
            <a:br>
              <a:rPr lang="en-IN" dirty="0"/>
            </a:br>
            <a:r>
              <a:rPr lang="en-IN" dirty="0"/>
              <a:t>• </a:t>
            </a:r>
            <a:r>
              <a:rPr lang="en-IN" b="1" dirty="0"/>
              <a:t>Limited Context Understanding:</a:t>
            </a:r>
            <a:r>
              <a:rPr lang="en-IN" dirty="0"/>
              <a:t> AI models may occasionally misinterpret complex or ambiguous queries.</a:t>
            </a:r>
          </a:p>
          <a:p>
            <a:endParaRPr lang="en-US" dirty="0"/>
          </a:p>
        </p:txBody>
      </p:sp>
    </p:spTree>
    <p:extLst>
      <p:ext uri="{BB962C8B-B14F-4D97-AF65-F5344CB8AC3E}">
        <p14:creationId xmlns:p14="http://schemas.microsoft.com/office/powerpoint/2010/main" val="3920450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1D1E0F8-B0B8-538A-222A-421BEBFC4703}"/>
              </a:ext>
            </a:extLst>
          </p:cNvPr>
          <p:cNvSpPr/>
          <p:nvPr/>
        </p:nvSpPr>
        <p:spPr>
          <a:xfrm>
            <a:off x="198605" y="266218"/>
            <a:ext cx="7162894" cy="333350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dirty="0">
                <a:solidFill>
                  <a:schemeClr val="accent5"/>
                </a:solidFill>
              </a:rPr>
              <a:t>Opportunities</a:t>
            </a:r>
          </a:p>
          <a:p>
            <a:r>
              <a:rPr lang="en-US" dirty="0"/>
              <a:t>• </a:t>
            </a:r>
            <a:r>
              <a:rPr lang="en-US" b="1" dirty="0"/>
              <a:t>Personalized Recommendation System:</a:t>
            </a:r>
            <a:r>
              <a:rPr lang="en-US" dirty="0"/>
              <a:t> Integration of machine learning algorithms for customized book suggestions.</a:t>
            </a:r>
            <a:br>
              <a:rPr lang="en-US" dirty="0"/>
            </a:br>
            <a:r>
              <a:rPr lang="en-US" dirty="0"/>
              <a:t>• </a:t>
            </a:r>
            <a:r>
              <a:rPr lang="en-US" b="1" dirty="0"/>
              <a:t>Mobile Application Development:</a:t>
            </a:r>
            <a:r>
              <a:rPr lang="en-US" dirty="0"/>
              <a:t> Expansion into Android/iOS platforms.</a:t>
            </a:r>
            <a:br>
              <a:rPr lang="en-US" dirty="0"/>
            </a:br>
            <a:r>
              <a:rPr lang="en-US" dirty="0"/>
              <a:t>• </a:t>
            </a:r>
            <a:r>
              <a:rPr lang="en-US" b="1" dirty="0"/>
              <a:t>Multi-language Support:</a:t>
            </a:r>
            <a:r>
              <a:rPr lang="en-US" dirty="0"/>
              <a:t> Future enhancement to support regional languages.</a:t>
            </a:r>
            <a:br>
              <a:rPr lang="en-US" dirty="0"/>
            </a:br>
            <a:r>
              <a:rPr lang="en-US" dirty="0"/>
              <a:t>• </a:t>
            </a:r>
            <a:r>
              <a:rPr lang="en-US" b="1" dirty="0"/>
              <a:t>Expansion to Other E-commerce Domains:</a:t>
            </a:r>
            <a:r>
              <a:rPr lang="en-US" dirty="0"/>
              <a:t> The system can be adapted for other industries such as electronics or retail platforms.</a:t>
            </a:r>
          </a:p>
          <a:p>
            <a:endParaRPr lang="en-US" dirty="0"/>
          </a:p>
        </p:txBody>
      </p:sp>
      <p:sp>
        <p:nvSpPr>
          <p:cNvPr id="3" name="Rectangle: Rounded Corners 2">
            <a:extLst>
              <a:ext uri="{FF2B5EF4-FFF2-40B4-BE49-F238E27FC236}">
                <a16:creationId xmlns:a16="http://schemas.microsoft.com/office/drawing/2014/main" id="{78F3D26A-A2DF-7E95-3FEC-53AE4C812891}"/>
              </a:ext>
            </a:extLst>
          </p:cNvPr>
          <p:cNvSpPr/>
          <p:nvPr/>
        </p:nvSpPr>
        <p:spPr>
          <a:xfrm>
            <a:off x="5005958" y="3788779"/>
            <a:ext cx="6742345" cy="250784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dirty="0"/>
              <a:t>Threats</a:t>
            </a:r>
          </a:p>
          <a:p>
            <a:r>
              <a:rPr lang="en-US" dirty="0"/>
              <a:t>• </a:t>
            </a:r>
            <a:r>
              <a:rPr lang="en-US" b="1" dirty="0"/>
              <a:t>Data Privacy and Security Risks:</a:t>
            </a:r>
            <a:r>
              <a:rPr lang="en-US" dirty="0"/>
              <a:t> Handling user data requires strict security measures.</a:t>
            </a:r>
            <a:br>
              <a:rPr lang="en-US" dirty="0"/>
            </a:br>
            <a:r>
              <a:rPr lang="en-US" dirty="0"/>
              <a:t>• </a:t>
            </a:r>
            <a:r>
              <a:rPr lang="en-US" b="1" dirty="0"/>
              <a:t>Third-party API Downtime:</a:t>
            </a:r>
            <a:r>
              <a:rPr lang="en-US" dirty="0"/>
              <a:t> System performance may be affected if external AI services are unavailable.</a:t>
            </a:r>
            <a:br>
              <a:rPr lang="en-US" dirty="0"/>
            </a:br>
            <a:r>
              <a:rPr lang="en-US" dirty="0"/>
              <a:t>• </a:t>
            </a:r>
            <a:r>
              <a:rPr lang="en-US" b="1" dirty="0"/>
              <a:t>Competition from Established Platforms:</a:t>
            </a:r>
            <a:r>
              <a:rPr lang="en-US" dirty="0"/>
              <a:t> Competing with major e-commerce platforms may be challenging.</a:t>
            </a:r>
          </a:p>
          <a:p>
            <a:endParaRPr lang="en-US" dirty="0"/>
          </a:p>
        </p:txBody>
      </p:sp>
    </p:spTree>
    <p:extLst>
      <p:ext uri="{BB962C8B-B14F-4D97-AF65-F5344CB8AC3E}">
        <p14:creationId xmlns:p14="http://schemas.microsoft.com/office/powerpoint/2010/main" val="2763613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8. PERT Chart</a:t>
            </a:r>
          </a:p>
        </p:txBody>
      </p:sp>
      <p:sp>
        <p:nvSpPr>
          <p:cNvPr id="4" name="Rectangle 2">
            <a:extLst>
              <a:ext uri="{FF2B5EF4-FFF2-40B4-BE49-F238E27FC236}">
                <a16:creationId xmlns:a16="http://schemas.microsoft.com/office/drawing/2014/main" id="{66E41F3A-F4B6-F51C-2706-47EBA15640D4}"/>
              </a:ext>
            </a:extLst>
          </p:cNvPr>
          <p:cNvSpPr>
            <a:spLocks noChangeArrowheads="1"/>
          </p:cNvSpPr>
          <p:nvPr/>
        </p:nvSpPr>
        <p:spPr bwMode="auto">
          <a:xfrm>
            <a:off x="481263" y="102027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3">
            <a:extLst>
              <a:ext uri="{FF2B5EF4-FFF2-40B4-BE49-F238E27FC236}">
                <a16:creationId xmlns:a16="http://schemas.microsoft.com/office/drawing/2014/main" id="{30065EB4-3169-EF08-D034-51DF7360DE58}"/>
              </a:ext>
            </a:extLst>
          </p:cNvPr>
          <p:cNvSpPr>
            <a:spLocks noChangeArrowheads="1"/>
          </p:cNvSpPr>
          <p:nvPr/>
        </p:nvSpPr>
        <p:spPr bwMode="auto">
          <a:xfrm>
            <a:off x="481263" y="197277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3" name="Table 2">
            <a:extLst>
              <a:ext uri="{FF2B5EF4-FFF2-40B4-BE49-F238E27FC236}">
                <a16:creationId xmlns:a16="http://schemas.microsoft.com/office/drawing/2014/main" id="{F91ED3A6-1508-8F07-F17F-3356CD64FCAE}"/>
              </a:ext>
            </a:extLst>
          </p:cNvPr>
          <p:cNvGraphicFramePr>
            <a:graphicFrameLocks noGrp="1"/>
          </p:cNvGraphicFramePr>
          <p:nvPr>
            <p:extLst>
              <p:ext uri="{D42A27DB-BD31-4B8C-83A1-F6EECF244321}">
                <p14:modId xmlns:p14="http://schemas.microsoft.com/office/powerpoint/2010/main" val="1544311791"/>
              </p:ext>
            </p:extLst>
          </p:nvPr>
        </p:nvGraphicFramePr>
        <p:xfrm>
          <a:off x="370425" y="1020278"/>
          <a:ext cx="11470476" cy="5508355"/>
        </p:xfrm>
        <a:graphic>
          <a:graphicData uri="http://schemas.openxmlformats.org/drawingml/2006/table">
            <a:tbl>
              <a:tblPr firstRow="1" bandRow="1">
                <a:tableStyleId>{5C22544A-7EE6-4342-B048-85BDC9FD1C3A}</a:tableStyleId>
              </a:tblPr>
              <a:tblGrid>
                <a:gridCol w="5431889">
                  <a:extLst>
                    <a:ext uri="{9D8B030D-6E8A-4147-A177-3AD203B41FA5}">
                      <a16:colId xmlns:a16="http://schemas.microsoft.com/office/drawing/2014/main" val="940813734"/>
                    </a:ext>
                  </a:extLst>
                </a:gridCol>
                <a:gridCol w="2711567">
                  <a:extLst>
                    <a:ext uri="{9D8B030D-6E8A-4147-A177-3AD203B41FA5}">
                      <a16:colId xmlns:a16="http://schemas.microsoft.com/office/drawing/2014/main" val="1623935132"/>
                    </a:ext>
                  </a:extLst>
                </a:gridCol>
                <a:gridCol w="3327020">
                  <a:extLst>
                    <a:ext uri="{9D8B030D-6E8A-4147-A177-3AD203B41FA5}">
                      <a16:colId xmlns:a16="http://schemas.microsoft.com/office/drawing/2014/main" val="2722442168"/>
                    </a:ext>
                  </a:extLst>
                </a:gridCol>
              </a:tblGrid>
              <a:tr h="545254">
                <a:tc>
                  <a:txBody>
                    <a:bodyPr/>
                    <a:lstStyle/>
                    <a:p>
                      <a:pPr>
                        <a:buNone/>
                      </a:pPr>
                      <a:r>
                        <a:rPr lang="en-IN" dirty="0"/>
                        <a:t>Phase</a:t>
                      </a:r>
                    </a:p>
                  </a:txBody>
                  <a:tcPr anchor="ctr"/>
                </a:tc>
                <a:tc>
                  <a:txBody>
                    <a:bodyPr/>
                    <a:lstStyle/>
                    <a:p>
                      <a:pPr>
                        <a:buNone/>
                      </a:pPr>
                      <a:r>
                        <a:rPr lang="en-IN"/>
                        <a:t>Duration</a:t>
                      </a:r>
                    </a:p>
                  </a:txBody>
                  <a:tcPr anchor="ctr"/>
                </a:tc>
                <a:tc>
                  <a:txBody>
                    <a:bodyPr/>
                    <a:lstStyle/>
                    <a:p>
                      <a:pPr>
                        <a:buNone/>
                      </a:pPr>
                      <a:r>
                        <a:rPr lang="en-IN" dirty="0"/>
                        <a:t>Status</a:t>
                      </a:r>
                    </a:p>
                  </a:txBody>
                  <a:tcPr anchor="ctr"/>
                </a:tc>
                <a:extLst>
                  <a:ext uri="{0D108BD9-81ED-4DB2-BD59-A6C34878D82A}">
                    <a16:rowId xmlns:a16="http://schemas.microsoft.com/office/drawing/2014/main" val="3785084981"/>
                  </a:ext>
                </a:extLst>
              </a:tr>
              <a:tr h="941122">
                <a:tc>
                  <a:txBody>
                    <a:bodyPr/>
                    <a:lstStyle/>
                    <a:p>
                      <a:pPr algn="ctr"/>
                      <a:r>
                        <a:rPr lang="en-IN" dirty="0"/>
                        <a:t>Problem Analysis</a:t>
                      </a:r>
                    </a:p>
                  </a:txBody>
                  <a:tcPr anchor="ctr"/>
                </a:tc>
                <a:tc>
                  <a:txBody>
                    <a:bodyPr/>
                    <a:lstStyle/>
                    <a:p>
                      <a:pPr algn="ctr"/>
                      <a:r>
                        <a:rPr lang="en-IN"/>
                        <a:t>1 Week</a:t>
                      </a:r>
                    </a:p>
                  </a:txBody>
                  <a:tcPr anchor="ctr"/>
                </a:tc>
                <a:tc>
                  <a:txBody>
                    <a:bodyPr/>
                    <a:lstStyle/>
                    <a:p>
                      <a:pPr algn="ctr"/>
                      <a:r>
                        <a:rPr lang="en-IN" dirty="0"/>
                        <a:t>Completed</a:t>
                      </a:r>
                    </a:p>
                  </a:txBody>
                  <a:tcPr anchor="ctr"/>
                </a:tc>
                <a:extLst>
                  <a:ext uri="{0D108BD9-81ED-4DB2-BD59-A6C34878D82A}">
                    <a16:rowId xmlns:a16="http://schemas.microsoft.com/office/drawing/2014/main" val="1783998460"/>
                  </a:ext>
                </a:extLst>
              </a:tr>
              <a:tr h="716301">
                <a:tc>
                  <a:txBody>
                    <a:bodyPr/>
                    <a:lstStyle/>
                    <a:p>
                      <a:pPr algn="ctr"/>
                      <a:r>
                        <a:rPr lang="en-IN" dirty="0"/>
                        <a:t>System Design</a:t>
                      </a:r>
                    </a:p>
                  </a:txBody>
                  <a:tcPr anchor="ctr"/>
                </a:tc>
                <a:tc>
                  <a:txBody>
                    <a:bodyPr/>
                    <a:lstStyle/>
                    <a:p>
                      <a:pPr algn="ctr"/>
                      <a:r>
                        <a:rPr lang="en-IN"/>
                        <a:t>1 Week</a:t>
                      </a:r>
                    </a:p>
                  </a:txBody>
                  <a:tcPr anchor="ctr"/>
                </a:tc>
                <a:tc>
                  <a:txBody>
                    <a:bodyPr/>
                    <a:lstStyle/>
                    <a:p>
                      <a:pPr algn="ctr"/>
                      <a:r>
                        <a:rPr lang="en-IN"/>
                        <a:t>Completed</a:t>
                      </a:r>
                    </a:p>
                  </a:txBody>
                  <a:tcPr anchor="ctr"/>
                </a:tc>
                <a:extLst>
                  <a:ext uri="{0D108BD9-81ED-4DB2-BD59-A6C34878D82A}">
                    <a16:rowId xmlns:a16="http://schemas.microsoft.com/office/drawing/2014/main" val="3162560394"/>
                  </a:ext>
                </a:extLst>
              </a:tr>
              <a:tr h="545254">
                <a:tc>
                  <a:txBody>
                    <a:bodyPr/>
                    <a:lstStyle/>
                    <a:p>
                      <a:pPr algn="ctr"/>
                      <a:r>
                        <a:rPr lang="en-IN"/>
                        <a:t>Dataset and Database Setup</a:t>
                      </a:r>
                    </a:p>
                  </a:txBody>
                  <a:tcPr anchor="ctr"/>
                </a:tc>
                <a:tc>
                  <a:txBody>
                    <a:bodyPr/>
                    <a:lstStyle/>
                    <a:p>
                      <a:pPr algn="ctr"/>
                      <a:r>
                        <a:rPr lang="en-IN"/>
                        <a:t>1 Week</a:t>
                      </a:r>
                    </a:p>
                  </a:txBody>
                  <a:tcPr anchor="ctr"/>
                </a:tc>
                <a:tc>
                  <a:txBody>
                    <a:bodyPr/>
                    <a:lstStyle/>
                    <a:p>
                      <a:pPr algn="ctr"/>
                      <a:r>
                        <a:rPr lang="en-IN" dirty="0"/>
                        <a:t>active</a:t>
                      </a:r>
                    </a:p>
                  </a:txBody>
                  <a:tcPr anchor="ctr"/>
                </a:tc>
                <a:extLst>
                  <a:ext uri="{0D108BD9-81ED-4DB2-BD59-A6C34878D82A}">
                    <a16:rowId xmlns:a16="http://schemas.microsoft.com/office/drawing/2014/main" val="2564555689"/>
                  </a:ext>
                </a:extLst>
              </a:tr>
              <a:tr h="545254">
                <a:tc>
                  <a:txBody>
                    <a:bodyPr/>
                    <a:lstStyle/>
                    <a:p>
                      <a:pPr algn="ctr"/>
                      <a:r>
                        <a:rPr lang="en-IN"/>
                        <a:t>Backend Development</a:t>
                      </a:r>
                    </a:p>
                  </a:txBody>
                  <a:tcPr anchor="ctr"/>
                </a:tc>
                <a:tc>
                  <a:txBody>
                    <a:bodyPr/>
                    <a:lstStyle/>
                    <a:p>
                      <a:pPr algn="ctr"/>
                      <a:r>
                        <a:rPr lang="en-IN"/>
                        <a:t>2 Weeks</a:t>
                      </a:r>
                    </a:p>
                  </a:txBody>
                  <a:tcPr anchor="ctr"/>
                </a:tc>
                <a:tc>
                  <a:txBody>
                    <a:bodyPr/>
                    <a:lstStyle/>
                    <a:p>
                      <a:pPr algn="ctr"/>
                      <a:r>
                        <a:rPr lang="en-IN" dirty="0"/>
                        <a:t>In Progress</a:t>
                      </a:r>
                    </a:p>
                  </a:txBody>
                  <a:tcPr anchor="ctr"/>
                </a:tc>
                <a:extLst>
                  <a:ext uri="{0D108BD9-81ED-4DB2-BD59-A6C34878D82A}">
                    <a16:rowId xmlns:a16="http://schemas.microsoft.com/office/drawing/2014/main" val="2536238482"/>
                  </a:ext>
                </a:extLst>
              </a:tr>
              <a:tr h="545254">
                <a:tc>
                  <a:txBody>
                    <a:bodyPr/>
                    <a:lstStyle/>
                    <a:p>
                      <a:pPr algn="ctr"/>
                      <a:r>
                        <a:rPr lang="en-IN"/>
                        <a:t>Frontend Development</a:t>
                      </a:r>
                    </a:p>
                  </a:txBody>
                  <a:tcPr anchor="ctr"/>
                </a:tc>
                <a:tc>
                  <a:txBody>
                    <a:bodyPr/>
                    <a:lstStyle/>
                    <a:p>
                      <a:pPr algn="ctr"/>
                      <a:r>
                        <a:rPr lang="en-IN"/>
                        <a:t>2 Weeks</a:t>
                      </a:r>
                    </a:p>
                  </a:txBody>
                  <a:tcPr anchor="ctr"/>
                </a:tc>
                <a:tc>
                  <a:txBody>
                    <a:bodyPr/>
                    <a:lstStyle/>
                    <a:p>
                      <a:pPr algn="ctr"/>
                      <a:r>
                        <a:rPr lang="en-IN" dirty="0"/>
                        <a:t>In Progress</a:t>
                      </a:r>
                    </a:p>
                  </a:txBody>
                  <a:tcPr anchor="ctr"/>
                </a:tc>
                <a:extLst>
                  <a:ext uri="{0D108BD9-81ED-4DB2-BD59-A6C34878D82A}">
                    <a16:rowId xmlns:a16="http://schemas.microsoft.com/office/drawing/2014/main" val="1273155854"/>
                  </a:ext>
                </a:extLst>
              </a:tr>
              <a:tr h="579408">
                <a:tc>
                  <a:txBody>
                    <a:bodyPr/>
                    <a:lstStyle/>
                    <a:p>
                      <a:pPr algn="ctr"/>
                      <a:r>
                        <a:rPr lang="en-IN"/>
                        <a:t>AI and Voice Integration</a:t>
                      </a:r>
                    </a:p>
                  </a:txBody>
                  <a:tcPr anchor="ctr"/>
                </a:tc>
                <a:tc>
                  <a:txBody>
                    <a:bodyPr/>
                    <a:lstStyle/>
                    <a:p>
                      <a:pPr algn="ctr"/>
                      <a:r>
                        <a:rPr lang="en-IN"/>
                        <a:t>1 Week</a:t>
                      </a:r>
                    </a:p>
                  </a:txBody>
                  <a:tcPr anchor="ctr"/>
                </a:tc>
                <a:tc>
                  <a:txBody>
                    <a:bodyPr/>
                    <a:lstStyle/>
                    <a:p>
                      <a:pPr algn="ctr"/>
                      <a:r>
                        <a:rPr lang="en-US" dirty="0"/>
                        <a:t>Pending</a:t>
                      </a:r>
                      <a:endParaRPr lang="en-IN" dirty="0"/>
                    </a:p>
                  </a:txBody>
                  <a:tcPr anchor="ctr"/>
                </a:tc>
                <a:extLst>
                  <a:ext uri="{0D108BD9-81ED-4DB2-BD59-A6C34878D82A}">
                    <a16:rowId xmlns:a16="http://schemas.microsoft.com/office/drawing/2014/main" val="1571000393"/>
                  </a:ext>
                </a:extLst>
              </a:tr>
              <a:tr h="545254">
                <a:tc>
                  <a:txBody>
                    <a:bodyPr/>
                    <a:lstStyle/>
                    <a:p>
                      <a:pPr algn="ctr"/>
                      <a:r>
                        <a:rPr lang="en-IN" dirty="0"/>
                        <a:t>Testing and Debugging</a:t>
                      </a:r>
                    </a:p>
                  </a:txBody>
                  <a:tcPr anchor="ctr"/>
                </a:tc>
                <a:tc>
                  <a:txBody>
                    <a:bodyPr/>
                    <a:lstStyle/>
                    <a:p>
                      <a:pPr algn="ctr"/>
                      <a:r>
                        <a:rPr lang="en-IN" dirty="0"/>
                        <a:t>1 Week</a:t>
                      </a:r>
                    </a:p>
                  </a:txBody>
                  <a:tcPr anchor="ctr"/>
                </a:tc>
                <a:tc>
                  <a:txBody>
                    <a:bodyPr/>
                    <a:lstStyle/>
                    <a:p>
                      <a:pPr algn="ctr"/>
                      <a:r>
                        <a:rPr lang="en-US" dirty="0"/>
                        <a:t>Pending</a:t>
                      </a:r>
                      <a:endParaRPr lang="en-IN" dirty="0"/>
                    </a:p>
                  </a:txBody>
                  <a:tcPr anchor="ctr"/>
                </a:tc>
                <a:extLst>
                  <a:ext uri="{0D108BD9-81ED-4DB2-BD59-A6C34878D82A}">
                    <a16:rowId xmlns:a16="http://schemas.microsoft.com/office/drawing/2014/main" val="2300795919"/>
                  </a:ext>
                </a:extLst>
              </a:tr>
              <a:tr h="545254">
                <a:tc>
                  <a:txBody>
                    <a:bodyPr/>
                    <a:lstStyle/>
                    <a:p>
                      <a:pPr algn="ctr"/>
                      <a:r>
                        <a:rPr lang="en-IN" dirty="0"/>
                        <a:t>Documentation and Deployment</a:t>
                      </a:r>
                    </a:p>
                  </a:txBody>
                  <a:tcPr anchor="ctr"/>
                </a:tc>
                <a:tc>
                  <a:txBody>
                    <a:bodyPr/>
                    <a:lstStyle/>
                    <a:p>
                      <a:pPr algn="ctr"/>
                      <a:r>
                        <a:rPr lang="en-IN" dirty="0"/>
                        <a:t>1 Week</a:t>
                      </a:r>
                    </a:p>
                  </a:txBody>
                  <a:tcPr anchor="ctr"/>
                </a:tc>
                <a:tc>
                  <a:txBody>
                    <a:bodyPr/>
                    <a:lstStyle/>
                    <a:p>
                      <a:pPr algn="ctr"/>
                      <a:r>
                        <a:rPr lang="en-US" dirty="0"/>
                        <a:t>Pending</a:t>
                      </a:r>
                      <a:endParaRPr lang="en-IN" dirty="0"/>
                    </a:p>
                  </a:txBody>
                  <a:tcPr anchor="ctr"/>
                </a:tc>
                <a:extLst>
                  <a:ext uri="{0D108BD9-81ED-4DB2-BD59-A6C34878D82A}">
                    <a16:rowId xmlns:a16="http://schemas.microsoft.com/office/drawing/2014/main" val="806881390"/>
                  </a:ext>
                </a:extLst>
              </a:tr>
            </a:tbl>
          </a:graphicData>
        </a:graphic>
      </p:graphicFrame>
    </p:spTree>
    <p:extLst>
      <p:ext uri="{BB962C8B-B14F-4D97-AF65-F5344CB8AC3E}">
        <p14:creationId xmlns:p14="http://schemas.microsoft.com/office/powerpoint/2010/main" val="2743588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A3B58-5CCF-7DB1-5FA6-F08763112FD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7B096C0-45B8-4618-B8B1-9C39D47B6B15}"/>
              </a:ext>
            </a:extLst>
          </p:cNvPr>
          <p:cNvSpPr>
            <a:spLocks noChangeArrowheads="1"/>
          </p:cNvSpPr>
          <p:nvPr/>
        </p:nvSpPr>
        <p:spPr bwMode="auto">
          <a:xfrm>
            <a:off x="481263" y="102027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3">
            <a:extLst>
              <a:ext uri="{FF2B5EF4-FFF2-40B4-BE49-F238E27FC236}">
                <a16:creationId xmlns:a16="http://schemas.microsoft.com/office/drawing/2014/main" id="{BAA97093-CF7C-DFE8-1190-9C8421AC87C8}"/>
              </a:ext>
            </a:extLst>
          </p:cNvPr>
          <p:cNvSpPr>
            <a:spLocks noChangeArrowheads="1"/>
          </p:cNvSpPr>
          <p:nvPr/>
        </p:nvSpPr>
        <p:spPr bwMode="auto">
          <a:xfrm>
            <a:off x="481263" y="197277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a:extLst>
              <a:ext uri="{FF2B5EF4-FFF2-40B4-BE49-F238E27FC236}">
                <a16:creationId xmlns:a16="http://schemas.microsoft.com/office/drawing/2014/main" id="{5DB4A379-D7D9-520C-DEA1-C23BD65A0CAE}"/>
              </a:ext>
            </a:extLst>
          </p:cNvPr>
          <p:cNvPicPr>
            <a:picLocks noChangeAspect="1"/>
          </p:cNvPicPr>
          <p:nvPr/>
        </p:nvPicPr>
        <p:blipFill>
          <a:blip r:embed="rId2"/>
          <a:stretch>
            <a:fillRect/>
          </a:stretch>
        </p:blipFill>
        <p:spPr>
          <a:xfrm>
            <a:off x="349591" y="901762"/>
            <a:ext cx="9284739" cy="5737635"/>
          </a:xfrm>
          <a:prstGeom prst="rect">
            <a:avLst/>
          </a:prstGeom>
        </p:spPr>
      </p:pic>
    </p:spTree>
    <p:extLst>
      <p:ext uri="{BB962C8B-B14F-4D97-AF65-F5344CB8AC3E}">
        <p14:creationId xmlns:p14="http://schemas.microsoft.com/office/powerpoint/2010/main" val="3751872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B0561F-2CDB-0B10-9879-55A43591825E}"/>
              </a:ext>
            </a:extLst>
          </p:cNvPr>
          <p:cNvSpPr txBox="1"/>
          <p:nvPr/>
        </p:nvSpPr>
        <p:spPr>
          <a:xfrm>
            <a:off x="325927" y="24862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9. Conclusion </a:t>
            </a:r>
          </a:p>
        </p:txBody>
      </p:sp>
      <p:sp>
        <p:nvSpPr>
          <p:cNvPr id="5" name="TextBox 4">
            <a:extLst>
              <a:ext uri="{FF2B5EF4-FFF2-40B4-BE49-F238E27FC236}">
                <a16:creationId xmlns:a16="http://schemas.microsoft.com/office/drawing/2014/main" id="{FB8AFD9B-BE91-2F97-5A27-46CC4034EB29}"/>
              </a:ext>
            </a:extLst>
          </p:cNvPr>
          <p:cNvSpPr txBox="1"/>
          <p:nvPr/>
        </p:nvSpPr>
        <p:spPr>
          <a:xfrm>
            <a:off x="225288" y="995423"/>
            <a:ext cx="11708296" cy="120032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In conclusion, the project demonstrates how AI, NLP, and voice technologies can be integrated into an online bookstore platform to automate customer support. The system provides real-time assistance through chat and voice, improves user experience, and reduces operational dependency on human agents. It highlights the practical implementation of intelligent digital support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3654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876E23-BB7B-8FDB-116E-A0456E2F3A12}"/>
              </a:ext>
            </a:extLst>
          </p:cNvPr>
          <p:cNvSpPr txBox="1"/>
          <p:nvPr/>
        </p:nvSpPr>
        <p:spPr>
          <a:xfrm>
            <a:off x="325927" y="24862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10. References </a:t>
            </a:r>
          </a:p>
        </p:txBody>
      </p:sp>
      <p:sp>
        <p:nvSpPr>
          <p:cNvPr id="3" name="TextBox 2">
            <a:extLst>
              <a:ext uri="{FF2B5EF4-FFF2-40B4-BE49-F238E27FC236}">
                <a16:creationId xmlns:a16="http://schemas.microsoft.com/office/drawing/2014/main" id="{1EF8E1D9-2C66-ABFB-E324-CE7B44F910E9}"/>
              </a:ext>
            </a:extLst>
          </p:cNvPr>
          <p:cNvSpPr txBox="1"/>
          <p:nvPr/>
        </p:nvSpPr>
        <p:spPr>
          <a:xfrm>
            <a:off x="578498" y="1380931"/>
            <a:ext cx="10702212" cy="4247317"/>
          </a:xfrm>
          <a:prstGeom prst="rect">
            <a:avLst/>
          </a:prstGeom>
          <a:noFill/>
        </p:spPr>
        <p:txBody>
          <a:bodyPr wrap="square" rtlCol="0">
            <a:spAutoFit/>
          </a:bodyPr>
          <a:lstStyle/>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Bird, S., Klein, E., &amp; Loper, E. (2009). Natural language processing with Python. O’Reilly Media.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2. Flask Documentation. (2024). Flask web framework documentation. Retrieved from https://flask.palletsprojects.com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3. Jurafsky, D., D., &amp; Martin, J. H. (2021). Speech and language processing: An introduction to natural language processing, computational linguistics, and speech recognition (3rd ed.). Pearson.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4. MongoDB Inc. (2024). MongoDB documentation. Retrieved from https://www.mongodb.com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5. OpenAI. (2024). OpenAI API documentation. Retrieved from https://platform.openai.com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6. Russell, S., &amp; Norvig, P. (2021). Artificial intelligence: A modern approach (4th ed.). Pearson.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7. Sutton, R. S., &amp; Barto, A. G. (2018). Reinforcement learning: An introduction (2nd ed.). MIT Press.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8. Shawar, B. A., &amp; Atwell, E. (2007). Chatbots: Are they really useful? Journal for Language Technology and Computational Linguistics, 22(1), 29–49.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9. Weizenbaum, J. (1966). ELIZA—A computer program for the study of natural language communication between man and machine. Communications of the ACM, 9(1), 36–45.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10. Devlin, J., Chang, M., Lee, K., &amp; Toutanova, K. (2019). BERT: Pre-training of deep bidirectional transformers for language understanding. Proceedings of NAACL-HLT, 4171–4186. </a:t>
            </a:r>
          </a:p>
        </p:txBody>
      </p:sp>
    </p:spTree>
    <p:extLst>
      <p:ext uri="{BB962C8B-B14F-4D97-AF65-F5344CB8AC3E}">
        <p14:creationId xmlns:p14="http://schemas.microsoft.com/office/powerpoint/2010/main" val="417208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9D82EA-6098-704F-AD4D-D13A499C492D}"/>
              </a:ext>
            </a:extLst>
          </p:cNvPr>
          <p:cNvSpPr txBox="1"/>
          <p:nvPr/>
        </p:nvSpPr>
        <p:spPr>
          <a:xfrm>
            <a:off x="1895294" y="3601496"/>
            <a:ext cx="8401412" cy="1200329"/>
          </a:xfrm>
          <a:prstGeom prst="rect">
            <a:avLst/>
          </a:prstGeom>
          <a:noFill/>
        </p:spPr>
        <p:txBody>
          <a:bodyPr wrap="square" rtlCol="0">
            <a:spAutoFit/>
          </a:bodyPr>
          <a:lstStyle/>
          <a:p>
            <a:pPr algn="ctr"/>
            <a:r>
              <a:rPr lang="en-US" sz="7200" b="1" dirty="0">
                <a:solidFill>
                  <a:srgbClr val="46B0FA"/>
                </a:solidFill>
                <a:latin typeface="Arial" panose="020B0604020202020204" pitchFamily="34" charset="0"/>
                <a:cs typeface="Arial" panose="020B0604020202020204" pitchFamily="34" charset="0"/>
              </a:rPr>
              <a:t>Thank You</a:t>
            </a:r>
            <a:endParaRPr lang="en-IN" sz="7200" b="1" dirty="0">
              <a:solidFill>
                <a:srgbClr val="46B0FA"/>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7FBB1AB-6227-0A49-9677-D759BB97E908}"/>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picture containing text, clipart&#10;&#10;Description automatically generated">
            <a:extLst>
              <a:ext uri="{FF2B5EF4-FFF2-40B4-BE49-F238E27FC236}">
                <a16:creationId xmlns:a16="http://schemas.microsoft.com/office/drawing/2014/main" id="{B3B91EF5-66BF-4A12-80C1-98869846E0D6}"/>
              </a:ext>
            </a:extLst>
          </p:cNvPr>
          <p:cNvPicPr>
            <a:picLocks noChangeAspect="1"/>
          </p:cNvPicPr>
          <p:nvPr/>
        </p:nvPicPr>
        <p:blipFill>
          <a:blip r:embed="rId2"/>
          <a:stretch>
            <a:fillRect/>
          </a:stretch>
        </p:blipFill>
        <p:spPr>
          <a:xfrm>
            <a:off x="3992880" y="1709987"/>
            <a:ext cx="4206240" cy="1806854"/>
          </a:xfrm>
          <a:prstGeom prst="rect">
            <a:avLst/>
          </a:prstGeom>
        </p:spPr>
      </p:pic>
    </p:spTree>
    <p:extLst>
      <p:ext uri="{BB962C8B-B14F-4D97-AF65-F5344CB8AC3E}">
        <p14:creationId xmlns:p14="http://schemas.microsoft.com/office/powerpoint/2010/main" val="3579348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16102</TotalTime>
  <Words>1656</Words>
  <Application>Microsoft Office PowerPoint</Application>
  <PresentationFormat>Widescreen</PresentationFormat>
  <Paragraphs>171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Stuti Gandhi</dc:creator>
  <cp:lastModifiedBy>Suraj Kumar Sharma</cp:lastModifiedBy>
  <cp:revision>625</cp:revision>
  <dcterms:created xsi:type="dcterms:W3CDTF">2021-05-06T09:42:21Z</dcterms:created>
  <dcterms:modified xsi:type="dcterms:W3CDTF">2026-03-06T08:29:55Z</dcterms:modified>
</cp:coreProperties>
</file>